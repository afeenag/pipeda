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57" r:id="rId3"/>
    <p:sldId id="269" r:id="rId4"/>
    <p:sldId id="270" r:id="rId5"/>
    <p:sldId id="271" r:id="rId6"/>
    <p:sldId id="272" r:id="rId7"/>
    <p:sldId id="273"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9927" autoAdjust="0"/>
  </p:normalViewPr>
  <p:slideViewPr>
    <p:cSldViewPr snapToGrid="0">
      <p:cViewPr varScale="1">
        <p:scale>
          <a:sx n="66" d="100"/>
          <a:sy n="66" d="100"/>
        </p:scale>
        <p:origin x="231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5" Type="http://schemas.openxmlformats.org/officeDocument/2006/relationships/image" Target="../media/image8.sv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5" Type="http://schemas.openxmlformats.org/officeDocument/2006/relationships/image" Target="../media/image8.sv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7A1B7E-695D-45D0-B4F9-F259225B5A4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F089448-7007-405E-A16E-71090E338297}">
      <dgm:prSet/>
      <dgm:spPr/>
      <dgm:t>
        <a:bodyPr/>
        <a:lstStyle/>
        <a:p>
          <a:pPr>
            <a:lnSpc>
              <a:spcPct val="100000"/>
            </a:lnSpc>
          </a:pPr>
          <a:r>
            <a:rPr lang="en-CA" dirty="0">
              <a:solidFill>
                <a:schemeClr val="bg1"/>
              </a:solidFill>
            </a:rPr>
            <a:t>Introduction to PIPEDA</a:t>
          </a:r>
          <a:endParaRPr lang="en-US" dirty="0">
            <a:solidFill>
              <a:schemeClr val="bg1"/>
            </a:solidFill>
          </a:endParaRPr>
        </a:p>
      </dgm:t>
    </dgm:pt>
    <dgm:pt modelId="{869254E7-2DCC-4FE1-8461-79194C9BB714}" type="parTrans" cxnId="{452F4B2A-6C6B-490C-BE24-BE526D7B50CC}">
      <dgm:prSet/>
      <dgm:spPr/>
      <dgm:t>
        <a:bodyPr/>
        <a:lstStyle/>
        <a:p>
          <a:endParaRPr lang="en-US"/>
        </a:p>
      </dgm:t>
    </dgm:pt>
    <dgm:pt modelId="{8EA001A1-1F14-42BD-88BD-A8F6A64AE613}" type="sibTrans" cxnId="{452F4B2A-6C6B-490C-BE24-BE526D7B50CC}">
      <dgm:prSet/>
      <dgm:spPr/>
      <dgm:t>
        <a:bodyPr/>
        <a:lstStyle/>
        <a:p>
          <a:endParaRPr lang="en-US"/>
        </a:p>
      </dgm:t>
    </dgm:pt>
    <dgm:pt modelId="{E7031E19-FA15-4C2E-A4A1-2102CB81CDAC}">
      <dgm:prSet/>
      <dgm:spPr/>
      <dgm:t>
        <a:bodyPr/>
        <a:lstStyle/>
        <a:p>
          <a:pPr>
            <a:lnSpc>
              <a:spcPct val="100000"/>
            </a:lnSpc>
          </a:pPr>
          <a:r>
            <a:rPr lang="en-CA" dirty="0">
              <a:solidFill>
                <a:schemeClr val="bg1"/>
              </a:solidFill>
            </a:rPr>
            <a:t>PIPEDA Principles</a:t>
          </a:r>
          <a:endParaRPr lang="en-US" dirty="0">
            <a:solidFill>
              <a:schemeClr val="bg1"/>
            </a:solidFill>
          </a:endParaRPr>
        </a:p>
      </dgm:t>
    </dgm:pt>
    <dgm:pt modelId="{E293E318-401D-408E-9220-668F7178598E}" type="parTrans" cxnId="{2CD46A52-DACC-4057-BB78-934C34C82E65}">
      <dgm:prSet/>
      <dgm:spPr/>
      <dgm:t>
        <a:bodyPr/>
        <a:lstStyle/>
        <a:p>
          <a:endParaRPr lang="en-US"/>
        </a:p>
      </dgm:t>
    </dgm:pt>
    <dgm:pt modelId="{6FC91B67-64BD-4384-84DD-C6720A2D6DE1}" type="sibTrans" cxnId="{2CD46A52-DACC-4057-BB78-934C34C82E65}">
      <dgm:prSet/>
      <dgm:spPr/>
      <dgm:t>
        <a:bodyPr/>
        <a:lstStyle/>
        <a:p>
          <a:endParaRPr lang="en-US"/>
        </a:p>
      </dgm:t>
    </dgm:pt>
    <dgm:pt modelId="{4578AB5B-2219-4196-9A05-CD35B534FB0B}">
      <dgm:prSet/>
      <dgm:spPr/>
      <dgm:t>
        <a:bodyPr/>
        <a:lstStyle/>
        <a:p>
          <a:pPr>
            <a:lnSpc>
              <a:spcPct val="100000"/>
            </a:lnSpc>
          </a:pPr>
          <a:r>
            <a:rPr lang="en-CA" dirty="0">
              <a:solidFill>
                <a:schemeClr val="bg1"/>
              </a:solidFill>
            </a:rPr>
            <a:t>Questions &amp; Answers</a:t>
          </a:r>
        </a:p>
      </dgm:t>
    </dgm:pt>
    <dgm:pt modelId="{FC56B937-CE0C-4DED-92C6-5340B21319BF}" type="parTrans" cxnId="{8D6C37C4-8819-4754-851D-FB0C609C7AFA}">
      <dgm:prSet/>
      <dgm:spPr/>
      <dgm:t>
        <a:bodyPr/>
        <a:lstStyle/>
        <a:p>
          <a:endParaRPr lang="en-CA"/>
        </a:p>
      </dgm:t>
    </dgm:pt>
    <dgm:pt modelId="{AB5D9B27-5202-4F33-ACA9-B64A6F4D9BBA}" type="sibTrans" cxnId="{8D6C37C4-8819-4754-851D-FB0C609C7AFA}">
      <dgm:prSet/>
      <dgm:spPr/>
      <dgm:t>
        <a:bodyPr/>
        <a:lstStyle/>
        <a:p>
          <a:endParaRPr lang="en-CA"/>
        </a:p>
      </dgm:t>
    </dgm:pt>
    <dgm:pt modelId="{CD72DAD2-17A2-4EBD-8BAA-BB72BC6D4C1D}">
      <dgm:prSet/>
      <dgm:spPr/>
      <dgm:t>
        <a:bodyPr/>
        <a:lstStyle/>
        <a:p>
          <a:pPr>
            <a:lnSpc>
              <a:spcPct val="100000"/>
            </a:lnSpc>
          </a:pPr>
          <a:r>
            <a:rPr lang="en-CA" dirty="0">
              <a:solidFill>
                <a:schemeClr val="bg1"/>
              </a:solidFill>
            </a:rPr>
            <a:t>Future of Data Protection Challenges</a:t>
          </a:r>
        </a:p>
      </dgm:t>
    </dgm:pt>
    <dgm:pt modelId="{8E1457C6-EFA3-487E-B5F9-CD4A5A9946D6}" type="parTrans" cxnId="{F73E66CC-AB4B-47FD-BB93-B459CBD15982}">
      <dgm:prSet/>
      <dgm:spPr/>
      <dgm:t>
        <a:bodyPr/>
        <a:lstStyle/>
        <a:p>
          <a:endParaRPr lang="en-CA"/>
        </a:p>
      </dgm:t>
    </dgm:pt>
    <dgm:pt modelId="{5C2EE815-1494-4B2E-A58D-821AA6A6E80C}" type="sibTrans" cxnId="{F73E66CC-AB4B-47FD-BB93-B459CBD15982}">
      <dgm:prSet/>
      <dgm:spPr/>
      <dgm:t>
        <a:bodyPr/>
        <a:lstStyle/>
        <a:p>
          <a:endParaRPr lang="en-CA"/>
        </a:p>
      </dgm:t>
    </dgm:pt>
    <dgm:pt modelId="{DD4BE055-A85D-42F5-AFC2-D77CED304FB8}">
      <dgm:prSet/>
      <dgm:spPr/>
      <dgm:t>
        <a:bodyPr/>
        <a:lstStyle/>
        <a:p>
          <a:pPr>
            <a:lnSpc>
              <a:spcPct val="100000"/>
            </a:lnSpc>
          </a:pPr>
          <a:r>
            <a:rPr lang="en-CA" dirty="0">
              <a:solidFill>
                <a:schemeClr val="bg1"/>
              </a:solidFill>
            </a:rPr>
            <a:t>Ethical Challenges in Business Analytics</a:t>
          </a:r>
        </a:p>
      </dgm:t>
    </dgm:pt>
    <dgm:pt modelId="{F79D26C3-F42A-4E29-8047-998A177E5F32}" type="parTrans" cxnId="{321FE1F5-93DB-4D0E-B55E-077EF0458385}">
      <dgm:prSet/>
      <dgm:spPr/>
      <dgm:t>
        <a:bodyPr/>
        <a:lstStyle/>
        <a:p>
          <a:endParaRPr lang="en-CA"/>
        </a:p>
      </dgm:t>
    </dgm:pt>
    <dgm:pt modelId="{230E72F6-6356-4F6A-B141-9826F668C6EA}" type="sibTrans" cxnId="{321FE1F5-93DB-4D0E-B55E-077EF0458385}">
      <dgm:prSet/>
      <dgm:spPr/>
      <dgm:t>
        <a:bodyPr/>
        <a:lstStyle/>
        <a:p>
          <a:endParaRPr lang="en-CA"/>
        </a:p>
      </dgm:t>
    </dgm:pt>
    <dgm:pt modelId="{DF091548-A1A7-477D-B4BC-D9DE3DBBDDB6}" type="pres">
      <dgm:prSet presAssocID="{837A1B7E-695D-45D0-B4F9-F259225B5A49}" presName="root" presStyleCnt="0">
        <dgm:presLayoutVars>
          <dgm:dir/>
          <dgm:resizeHandles val="exact"/>
        </dgm:presLayoutVars>
      </dgm:prSet>
      <dgm:spPr/>
    </dgm:pt>
    <dgm:pt modelId="{A25318B7-2402-4679-B615-31554B7E9ECB}" type="pres">
      <dgm:prSet presAssocID="{9F089448-7007-405E-A16E-71090E338297}" presName="compNode" presStyleCnt="0"/>
      <dgm:spPr/>
    </dgm:pt>
    <dgm:pt modelId="{1723489E-0988-435F-AFB2-BE7D90D45C8B}" type="pres">
      <dgm:prSet presAssocID="{9F089448-7007-405E-A16E-71090E338297}" presName="bgRect" presStyleLbl="bgShp" presStyleIdx="0" presStyleCnt="5"/>
      <dgm:spPr/>
    </dgm:pt>
    <dgm:pt modelId="{226DBFB0-A6F5-4C25-8F0C-08B8A14D4EAD}" type="pres">
      <dgm:prSet presAssocID="{9F089448-7007-405E-A16E-71090E338297}"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heckmark"/>
        </a:ext>
      </dgm:extLst>
    </dgm:pt>
    <dgm:pt modelId="{4E22EA51-D02A-4F57-8BEE-2CC4EDC22122}" type="pres">
      <dgm:prSet presAssocID="{9F089448-7007-405E-A16E-71090E338297}" presName="spaceRect" presStyleCnt="0"/>
      <dgm:spPr/>
    </dgm:pt>
    <dgm:pt modelId="{C5683E35-C07F-43D9-84A3-2DB6663C4DCF}" type="pres">
      <dgm:prSet presAssocID="{9F089448-7007-405E-A16E-71090E338297}" presName="parTx" presStyleLbl="revTx" presStyleIdx="0" presStyleCnt="5">
        <dgm:presLayoutVars>
          <dgm:chMax val="0"/>
          <dgm:chPref val="0"/>
        </dgm:presLayoutVars>
      </dgm:prSet>
      <dgm:spPr/>
    </dgm:pt>
    <dgm:pt modelId="{4709C264-0586-468A-BF75-9B20232FE7F1}" type="pres">
      <dgm:prSet presAssocID="{8EA001A1-1F14-42BD-88BD-A8F6A64AE613}" presName="sibTrans" presStyleCnt="0"/>
      <dgm:spPr/>
    </dgm:pt>
    <dgm:pt modelId="{A2303C91-5991-44F7-B0BC-7D501A59A1AF}" type="pres">
      <dgm:prSet presAssocID="{E7031E19-FA15-4C2E-A4A1-2102CB81CDAC}" presName="compNode" presStyleCnt="0"/>
      <dgm:spPr/>
    </dgm:pt>
    <dgm:pt modelId="{93F1CA3B-3E0D-4EED-AF1B-A58E43484549}" type="pres">
      <dgm:prSet presAssocID="{E7031E19-FA15-4C2E-A4A1-2102CB81CDAC}" presName="bgRect" presStyleLbl="bgShp" presStyleIdx="1" presStyleCnt="5"/>
      <dgm:spPr/>
    </dgm:pt>
    <dgm:pt modelId="{9F3160F9-EFC9-42FC-BBF3-E19C3D626CD7}" type="pres">
      <dgm:prSet presAssocID="{E7031E19-FA15-4C2E-A4A1-2102CB81CDAC}"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at"/>
        </a:ext>
      </dgm:extLst>
    </dgm:pt>
    <dgm:pt modelId="{2F57AE42-B0A4-44DF-8894-F36DD1BE2C90}" type="pres">
      <dgm:prSet presAssocID="{E7031E19-FA15-4C2E-A4A1-2102CB81CDAC}" presName="spaceRect" presStyleCnt="0"/>
      <dgm:spPr/>
    </dgm:pt>
    <dgm:pt modelId="{F042B621-40F9-4320-B73A-B0552C36EB69}" type="pres">
      <dgm:prSet presAssocID="{E7031E19-FA15-4C2E-A4A1-2102CB81CDAC}" presName="parTx" presStyleLbl="revTx" presStyleIdx="1" presStyleCnt="5">
        <dgm:presLayoutVars>
          <dgm:chMax val="0"/>
          <dgm:chPref val="0"/>
        </dgm:presLayoutVars>
      </dgm:prSet>
      <dgm:spPr/>
    </dgm:pt>
    <dgm:pt modelId="{218B4EB0-C053-4C9D-99DE-AC87C92EED16}" type="pres">
      <dgm:prSet presAssocID="{6FC91B67-64BD-4384-84DD-C6720A2D6DE1}" presName="sibTrans" presStyleCnt="0"/>
      <dgm:spPr/>
    </dgm:pt>
    <dgm:pt modelId="{FD188C25-85E0-4997-BC33-9BE5EEB578BE}" type="pres">
      <dgm:prSet presAssocID="{DD4BE055-A85D-42F5-AFC2-D77CED304FB8}" presName="compNode" presStyleCnt="0"/>
      <dgm:spPr/>
    </dgm:pt>
    <dgm:pt modelId="{95E459AA-91F7-4783-BA03-A2B4C19F02CA}" type="pres">
      <dgm:prSet presAssocID="{DD4BE055-A85D-42F5-AFC2-D77CED304FB8}" presName="bgRect" presStyleLbl="bgShp" presStyleIdx="2" presStyleCnt="5"/>
      <dgm:spPr/>
    </dgm:pt>
    <dgm:pt modelId="{8C8F792C-1093-4577-B7BA-D057884680DC}" type="pres">
      <dgm:prSet presAssocID="{DD4BE055-A85D-42F5-AFC2-D77CED304FB8}" presName="iconRect" presStyleLbl="nod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Scales of justice with solid fill"/>
        </a:ext>
      </dgm:extLst>
    </dgm:pt>
    <dgm:pt modelId="{BBC45D12-F34A-45C0-AC3D-E7341956A696}" type="pres">
      <dgm:prSet presAssocID="{DD4BE055-A85D-42F5-AFC2-D77CED304FB8}" presName="spaceRect" presStyleCnt="0"/>
      <dgm:spPr/>
    </dgm:pt>
    <dgm:pt modelId="{2C6FE1E2-C2A6-4487-B1E4-606B40046756}" type="pres">
      <dgm:prSet presAssocID="{DD4BE055-A85D-42F5-AFC2-D77CED304FB8}" presName="parTx" presStyleLbl="revTx" presStyleIdx="2" presStyleCnt="5">
        <dgm:presLayoutVars>
          <dgm:chMax val="0"/>
          <dgm:chPref val="0"/>
        </dgm:presLayoutVars>
      </dgm:prSet>
      <dgm:spPr/>
    </dgm:pt>
    <dgm:pt modelId="{2F2D99D7-C32F-4B99-9F37-643632D53579}" type="pres">
      <dgm:prSet presAssocID="{230E72F6-6356-4F6A-B141-9826F668C6EA}" presName="sibTrans" presStyleCnt="0"/>
      <dgm:spPr/>
    </dgm:pt>
    <dgm:pt modelId="{E87AB33F-7007-4DEE-80EC-6A4E9F1F77FF}" type="pres">
      <dgm:prSet presAssocID="{CD72DAD2-17A2-4EBD-8BAA-BB72BC6D4C1D}" presName="compNode" presStyleCnt="0"/>
      <dgm:spPr/>
    </dgm:pt>
    <dgm:pt modelId="{D4CBD695-A767-4F03-B832-22835088B193}" type="pres">
      <dgm:prSet presAssocID="{CD72DAD2-17A2-4EBD-8BAA-BB72BC6D4C1D}" presName="bgRect" presStyleLbl="bgShp" presStyleIdx="3" presStyleCnt="5"/>
      <dgm:spPr/>
    </dgm:pt>
    <dgm:pt modelId="{81D3B275-3D47-4C13-BD68-2EA20FE8DBB3}" type="pres">
      <dgm:prSet presAssocID="{CD72DAD2-17A2-4EBD-8BAA-BB72BC6D4C1D}" presName="iconRect" presStyleLbl="nod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Lock with solid fill"/>
        </a:ext>
      </dgm:extLst>
    </dgm:pt>
    <dgm:pt modelId="{B1C7D8EF-1164-4424-8A3D-4A46B475FC7A}" type="pres">
      <dgm:prSet presAssocID="{CD72DAD2-17A2-4EBD-8BAA-BB72BC6D4C1D}" presName="spaceRect" presStyleCnt="0"/>
      <dgm:spPr/>
    </dgm:pt>
    <dgm:pt modelId="{CBE47CD7-1600-4788-A30D-25EAEEDD3AC6}" type="pres">
      <dgm:prSet presAssocID="{CD72DAD2-17A2-4EBD-8BAA-BB72BC6D4C1D}" presName="parTx" presStyleLbl="revTx" presStyleIdx="3" presStyleCnt="5">
        <dgm:presLayoutVars>
          <dgm:chMax val="0"/>
          <dgm:chPref val="0"/>
        </dgm:presLayoutVars>
      </dgm:prSet>
      <dgm:spPr/>
    </dgm:pt>
    <dgm:pt modelId="{BCA2AA70-A59E-421B-8B40-4806C02D0F30}" type="pres">
      <dgm:prSet presAssocID="{5C2EE815-1494-4B2E-A58D-821AA6A6E80C}" presName="sibTrans" presStyleCnt="0"/>
      <dgm:spPr/>
    </dgm:pt>
    <dgm:pt modelId="{7204F6D6-01DB-4D1E-BB23-A57E995EC743}" type="pres">
      <dgm:prSet presAssocID="{4578AB5B-2219-4196-9A05-CD35B534FB0B}" presName="compNode" presStyleCnt="0"/>
      <dgm:spPr/>
    </dgm:pt>
    <dgm:pt modelId="{F27CBF85-0FC5-4674-A63A-B2A8FD157E73}" type="pres">
      <dgm:prSet presAssocID="{4578AB5B-2219-4196-9A05-CD35B534FB0B}" presName="bgRect" presStyleLbl="bgShp" presStyleIdx="4" presStyleCnt="5" custLinFactNeighborX="-2075" custLinFactNeighborY="-4470"/>
      <dgm:spPr/>
    </dgm:pt>
    <dgm:pt modelId="{D00E0FE4-4635-4409-B46F-E7B3B0835500}" type="pres">
      <dgm:prSet presAssocID="{4578AB5B-2219-4196-9A05-CD35B534FB0B}" presName="iconRect" presStyleLbl="nod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dgm:spPr>
      <dgm:extLst>
        <a:ext uri="{E40237B7-FDA0-4F09-8148-C483321AD2D9}">
          <dgm14:cNvPr xmlns:dgm14="http://schemas.microsoft.com/office/drawing/2010/diagram" id="0" name="" descr="Questions with solid fill"/>
        </a:ext>
      </dgm:extLst>
    </dgm:pt>
    <dgm:pt modelId="{F86192E2-09C0-4D55-B6A5-2763B6F1C84E}" type="pres">
      <dgm:prSet presAssocID="{4578AB5B-2219-4196-9A05-CD35B534FB0B}" presName="spaceRect" presStyleCnt="0"/>
      <dgm:spPr/>
    </dgm:pt>
    <dgm:pt modelId="{9D608137-FB18-4FF5-8A64-74347D3D4B87}" type="pres">
      <dgm:prSet presAssocID="{4578AB5B-2219-4196-9A05-CD35B534FB0B}" presName="parTx" presStyleLbl="revTx" presStyleIdx="4" presStyleCnt="5">
        <dgm:presLayoutVars>
          <dgm:chMax val="0"/>
          <dgm:chPref val="0"/>
        </dgm:presLayoutVars>
      </dgm:prSet>
      <dgm:spPr/>
    </dgm:pt>
  </dgm:ptLst>
  <dgm:cxnLst>
    <dgm:cxn modelId="{2AF8A926-927D-4C2B-804A-A016D671785D}" type="presOf" srcId="{CD72DAD2-17A2-4EBD-8BAA-BB72BC6D4C1D}" destId="{CBE47CD7-1600-4788-A30D-25EAEEDD3AC6}" srcOrd="0" destOrd="0" presId="urn:microsoft.com/office/officeart/2018/2/layout/IconVerticalSolidList"/>
    <dgm:cxn modelId="{452F4B2A-6C6B-490C-BE24-BE526D7B50CC}" srcId="{837A1B7E-695D-45D0-B4F9-F259225B5A49}" destId="{9F089448-7007-405E-A16E-71090E338297}" srcOrd="0" destOrd="0" parTransId="{869254E7-2DCC-4FE1-8461-79194C9BB714}" sibTransId="{8EA001A1-1F14-42BD-88BD-A8F6A64AE613}"/>
    <dgm:cxn modelId="{5BEAC064-26FD-42EC-889A-E69A22F3F06D}" type="presOf" srcId="{DD4BE055-A85D-42F5-AFC2-D77CED304FB8}" destId="{2C6FE1E2-C2A6-4487-B1E4-606B40046756}" srcOrd="0" destOrd="0" presId="urn:microsoft.com/office/officeart/2018/2/layout/IconVerticalSolidList"/>
    <dgm:cxn modelId="{C8D32446-0C13-4234-985C-D3596E5164F4}" type="presOf" srcId="{9F089448-7007-405E-A16E-71090E338297}" destId="{C5683E35-C07F-43D9-84A3-2DB6663C4DCF}" srcOrd="0" destOrd="0" presId="urn:microsoft.com/office/officeart/2018/2/layout/IconVerticalSolidList"/>
    <dgm:cxn modelId="{2CD46A52-DACC-4057-BB78-934C34C82E65}" srcId="{837A1B7E-695D-45D0-B4F9-F259225B5A49}" destId="{E7031E19-FA15-4C2E-A4A1-2102CB81CDAC}" srcOrd="1" destOrd="0" parTransId="{E293E318-401D-408E-9220-668F7178598E}" sibTransId="{6FC91B67-64BD-4384-84DD-C6720A2D6DE1}"/>
    <dgm:cxn modelId="{400AE5AA-44A7-477D-BA66-7777A65A905C}" type="presOf" srcId="{4578AB5B-2219-4196-9A05-CD35B534FB0B}" destId="{9D608137-FB18-4FF5-8A64-74347D3D4B87}" srcOrd="0" destOrd="0" presId="urn:microsoft.com/office/officeart/2018/2/layout/IconVerticalSolidList"/>
    <dgm:cxn modelId="{E91578B3-15A6-4A9B-8597-023B2B279AA9}" type="presOf" srcId="{E7031E19-FA15-4C2E-A4A1-2102CB81CDAC}" destId="{F042B621-40F9-4320-B73A-B0552C36EB69}" srcOrd="0" destOrd="0" presId="urn:microsoft.com/office/officeart/2018/2/layout/IconVerticalSolidList"/>
    <dgm:cxn modelId="{8D6C37C4-8819-4754-851D-FB0C609C7AFA}" srcId="{837A1B7E-695D-45D0-B4F9-F259225B5A49}" destId="{4578AB5B-2219-4196-9A05-CD35B534FB0B}" srcOrd="4" destOrd="0" parTransId="{FC56B937-CE0C-4DED-92C6-5340B21319BF}" sibTransId="{AB5D9B27-5202-4F33-ACA9-B64A6F4D9BBA}"/>
    <dgm:cxn modelId="{F73E66CC-AB4B-47FD-BB93-B459CBD15982}" srcId="{837A1B7E-695D-45D0-B4F9-F259225B5A49}" destId="{CD72DAD2-17A2-4EBD-8BAA-BB72BC6D4C1D}" srcOrd="3" destOrd="0" parTransId="{8E1457C6-EFA3-487E-B5F9-CD4A5A9946D6}" sibTransId="{5C2EE815-1494-4B2E-A58D-821AA6A6E80C}"/>
    <dgm:cxn modelId="{0EABBBE0-AF0A-429A-B5D4-4D5AD58185DC}" type="presOf" srcId="{837A1B7E-695D-45D0-B4F9-F259225B5A49}" destId="{DF091548-A1A7-477D-B4BC-D9DE3DBBDDB6}" srcOrd="0" destOrd="0" presId="urn:microsoft.com/office/officeart/2018/2/layout/IconVerticalSolidList"/>
    <dgm:cxn modelId="{321FE1F5-93DB-4D0E-B55E-077EF0458385}" srcId="{837A1B7E-695D-45D0-B4F9-F259225B5A49}" destId="{DD4BE055-A85D-42F5-AFC2-D77CED304FB8}" srcOrd="2" destOrd="0" parTransId="{F79D26C3-F42A-4E29-8047-998A177E5F32}" sibTransId="{230E72F6-6356-4F6A-B141-9826F668C6EA}"/>
    <dgm:cxn modelId="{CAE383B0-B186-40AC-828C-B99B3642E98D}" type="presParOf" srcId="{DF091548-A1A7-477D-B4BC-D9DE3DBBDDB6}" destId="{A25318B7-2402-4679-B615-31554B7E9ECB}" srcOrd="0" destOrd="0" presId="urn:microsoft.com/office/officeart/2018/2/layout/IconVerticalSolidList"/>
    <dgm:cxn modelId="{1A970470-38F2-4A00-BAD9-0D1A28A25631}" type="presParOf" srcId="{A25318B7-2402-4679-B615-31554B7E9ECB}" destId="{1723489E-0988-435F-AFB2-BE7D90D45C8B}" srcOrd="0" destOrd="0" presId="urn:microsoft.com/office/officeart/2018/2/layout/IconVerticalSolidList"/>
    <dgm:cxn modelId="{171317F8-E73C-4CC4-9A2F-8A8E9010636A}" type="presParOf" srcId="{A25318B7-2402-4679-B615-31554B7E9ECB}" destId="{226DBFB0-A6F5-4C25-8F0C-08B8A14D4EAD}" srcOrd="1" destOrd="0" presId="urn:microsoft.com/office/officeart/2018/2/layout/IconVerticalSolidList"/>
    <dgm:cxn modelId="{F7655A6E-AD69-4F04-B40D-387284F5E9DC}" type="presParOf" srcId="{A25318B7-2402-4679-B615-31554B7E9ECB}" destId="{4E22EA51-D02A-4F57-8BEE-2CC4EDC22122}" srcOrd="2" destOrd="0" presId="urn:microsoft.com/office/officeart/2018/2/layout/IconVerticalSolidList"/>
    <dgm:cxn modelId="{A10C2017-DAEC-4F30-96EE-7896A538947D}" type="presParOf" srcId="{A25318B7-2402-4679-B615-31554B7E9ECB}" destId="{C5683E35-C07F-43D9-84A3-2DB6663C4DCF}" srcOrd="3" destOrd="0" presId="urn:microsoft.com/office/officeart/2018/2/layout/IconVerticalSolidList"/>
    <dgm:cxn modelId="{E78C3047-E5B2-4215-AEE1-04A8D062BAA4}" type="presParOf" srcId="{DF091548-A1A7-477D-B4BC-D9DE3DBBDDB6}" destId="{4709C264-0586-468A-BF75-9B20232FE7F1}" srcOrd="1" destOrd="0" presId="urn:microsoft.com/office/officeart/2018/2/layout/IconVerticalSolidList"/>
    <dgm:cxn modelId="{4FA18AC6-F817-46AF-A2D5-E80453C89A36}" type="presParOf" srcId="{DF091548-A1A7-477D-B4BC-D9DE3DBBDDB6}" destId="{A2303C91-5991-44F7-B0BC-7D501A59A1AF}" srcOrd="2" destOrd="0" presId="urn:microsoft.com/office/officeart/2018/2/layout/IconVerticalSolidList"/>
    <dgm:cxn modelId="{107C407A-BE94-4D3B-8E87-0F9C28D9B8FA}" type="presParOf" srcId="{A2303C91-5991-44F7-B0BC-7D501A59A1AF}" destId="{93F1CA3B-3E0D-4EED-AF1B-A58E43484549}" srcOrd="0" destOrd="0" presId="urn:microsoft.com/office/officeart/2018/2/layout/IconVerticalSolidList"/>
    <dgm:cxn modelId="{B131D773-2957-47DA-851A-03EB892B8C1D}" type="presParOf" srcId="{A2303C91-5991-44F7-B0BC-7D501A59A1AF}" destId="{9F3160F9-EFC9-42FC-BBF3-E19C3D626CD7}" srcOrd="1" destOrd="0" presId="urn:microsoft.com/office/officeart/2018/2/layout/IconVerticalSolidList"/>
    <dgm:cxn modelId="{F143A387-2A04-43A8-86AF-51B3D667173A}" type="presParOf" srcId="{A2303C91-5991-44F7-B0BC-7D501A59A1AF}" destId="{2F57AE42-B0A4-44DF-8894-F36DD1BE2C90}" srcOrd="2" destOrd="0" presId="urn:microsoft.com/office/officeart/2018/2/layout/IconVerticalSolidList"/>
    <dgm:cxn modelId="{538D812B-6928-4ABB-8B85-A237233A31BB}" type="presParOf" srcId="{A2303C91-5991-44F7-B0BC-7D501A59A1AF}" destId="{F042B621-40F9-4320-B73A-B0552C36EB69}" srcOrd="3" destOrd="0" presId="urn:microsoft.com/office/officeart/2018/2/layout/IconVerticalSolidList"/>
    <dgm:cxn modelId="{2C1CDC85-492C-4B78-81DC-116D2A98CF99}" type="presParOf" srcId="{DF091548-A1A7-477D-B4BC-D9DE3DBBDDB6}" destId="{218B4EB0-C053-4C9D-99DE-AC87C92EED16}" srcOrd="3" destOrd="0" presId="urn:microsoft.com/office/officeart/2018/2/layout/IconVerticalSolidList"/>
    <dgm:cxn modelId="{EDBA1979-FB63-4EE4-BE2A-E6A158A2C45F}" type="presParOf" srcId="{DF091548-A1A7-477D-B4BC-D9DE3DBBDDB6}" destId="{FD188C25-85E0-4997-BC33-9BE5EEB578BE}" srcOrd="4" destOrd="0" presId="urn:microsoft.com/office/officeart/2018/2/layout/IconVerticalSolidList"/>
    <dgm:cxn modelId="{F1B43D55-AC12-45EC-8A62-6FDF7A12E143}" type="presParOf" srcId="{FD188C25-85E0-4997-BC33-9BE5EEB578BE}" destId="{95E459AA-91F7-4783-BA03-A2B4C19F02CA}" srcOrd="0" destOrd="0" presId="urn:microsoft.com/office/officeart/2018/2/layout/IconVerticalSolidList"/>
    <dgm:cxn modelId="{F96D9D78-A341-4823-9076-E13B0ADB24F2}" type="presParOf" srcId="{FD188C25-85E0-4997-BC33-9BE5EEB578BE}" destId="{8C8F792C-1093-4577-B7BA-D057884680DC}" srcOrd="1" destOrd="0" presId="urn:microsoft.com/office/officeart/2018/2/layout/IconVerticalSolidList"/>
    <dgm:cxn modelId="{CED3A5DA-CC03-4D64-8A06-ADDCFC342F3C}" type="presParOf" srcId="{FD188C25-85E0-4997-BC33-9BE5EEB578BE}" destId="{BBC45D12-F34A-45C0-AC3D-E7341956A696}" srcOrd="2" destOrd="0" presId="urn:microsoft.com/office/officeart/2018/2/layout/IconVerticalSolidList"/>
    <dgm:cxn modelId="{184E4A25-0E4E-4A7B-B19D-EF95F5204BCF}" type="presParOf" srcId="{FD188C25-85E0-4997-BC33-9BE5EEB578BE}" destId="{2C6FE1E2-C2A6-4487-B1E4-606B40046756}" srcOrd="3" destOrd="0" presId="urn:microsoft.com/office/officeart/2018/2/layout/IconVerticalSolidList"/>
    <dgm:cxn modelId="{BB33B6BA-0590-429D-A26F-F0D832074C04}" type="presParOf" srcId="{DF091548-A1A7-477D-B4BC-D9DE3DBBDDB6}" destId="{2F2D99D7-C32F-4B99-9F37-643632D53579}" srcOrd="5" destOrd="0" presId="urn:microsoft.com/office/officeart/2018/2/layout/IconVerticalSolidList"/>
    <dgm:cxn modelId="{FE892C3F-3653-4E62-9112-A83C89A4A021}" type="presParOf" srcId="{DF091548-A1A7-477D-B4BC-D9DE3DBBDDB6}" destId="{E87AB33F-7007-4DEE-80EC-6A4E9F1F77FF}" srcOrd="6" destOrd="0" presId="urn:microsoft.com/office/officeart/2018/2/layout/IconVerticalSolidList"/>
    <dgm:cxn modelId="{BBCA5A71-2ADA-47AD-8042-7EA16F886AD3}" type="presParOf" srcId="{E87AB33F-7007-4DEE-80EC-6A4E9F1F77FF}" destId="{D4CBD695-A767-4F03-B832-22835088B193}" srcOrd="0" destOrd="0" presId="urn:microsoft.com/office/officeart/2018/2/layout/IconVerticalSolidList"/>
    <dgm:cxn modelId="{B82EB7DC-BB0D-44A4-AE7E-CE1D7C5CE780}" type="presParOf" srcId="{E87AB33F-7007-4DEE-80EC-6A4E9F1F77FF}" destId="{81D3B275-3D47-4C13-BD68-2EA20FE8DBB3}" srcOrd="1" destOrd="0" presId="urn:microsoft.com/office/officeart/2018/2/layout/IconVerticalSolidList"/>
    <dgm:cxn modelId="{8C38AD6E-4FF7-4AB7-ACDD-63DB7BE13576}" type="presParOf" srcId="{E87AB33F-7007-4DEE-80EC-6A4E9F1F77FF}" destId="{B1C7D8EF-1164-4424-8A3D-4A46B475FC7A}" srcOrd="2" destOrd="0" presId="urn:microsoft.com/office/officeart/2018/2/layout/IconVerticalSolidList"/>
    <dgm:cxn modelId="{9867BAF9-81AF-45BF-94FE-E8FC7640529F}" type="presParOf" srcId="{E87AB33F-7007-4DEE-80EC-6A4E9F1F77FF}" destId="{CBE47CD7-1600-4788-A30D-25EAEEDD3AC6}" srcOrd="3" destOrd="0" presId="urn:microsoft.com/office/officeart/2018/2/layout/IconVerticalSolidList"/>
    <dgm:cxn modelId="{4291C504-BEC2-492D-839E-F4E7DA41D6A3}" type="presParOf" srcId="{DF091548-A1A7-477D-B4BC-D9DE3DBBDDB6}" destId="{BCA2AA70-A59E-421B-8B40-4806C02D0F30}" srcOrd="7" destOrd="0" presId="urn:microsoft.com/office/officeart/2018/2/layout/IconVerticalSolidList"/>
    <dgm:cxn modelId="{46ADEE39-88A8-426C-9ED7-53FD89F5FACB}" type="presParOf" srcId="{DF091548-A1A7-477D-B4BC-D9DE3DBBDDB6}" destId="{7204F6D6-01DB-4D1E-BB23-A57E995EC743}" srcOrd="8" destOrd="0" presId="urn:microsoft.com/office/officeart/2018/2/layout/IconVerticalSolidList"/>
    <dgm:cxn modelId="{722996E2-BCB0-4B3B-8108-14BB962BDE05}" type="presParOf" srcId="{7204F6D6-01DB-4D1E-BB23-A57E995EC743}" destId="{F27CBF85-0FC5-4674-A63A-B2A8FD157E73}" srcOrd="0" destOrd="0" presId="urn:microsoft.com/office/officeart/2018/2/layout/IconVerticalSolidList"/>
    <dgm:cxn modelId="{28F4FCC6-3DED-4207-8171-20F3407D19E9}" type="presParOf" srcId="{7204F6D6-01DB-4D1E-BB23-A57E995EC743}" destId="{D00E0FE4-4635-4409-B46F-E7B3B0835500}" srcOrd="1" destOrd="0" presId="urn:microsoft.com/office/officeart/2018/2/layout/IconVerticalSolidList"/>
    <dgm:cxn modelId="{6C26EC4B-1228-45FB-B172-BC7FD66B61AB}" type="presParOf" srcId="{7204F6D6-01DB-4D1E-BB23-A57E995EC743}" destId="{F86192E2-09C0-4D55-B6A5-2763B6F1C84E}" srcOrd="2" destOrd="0" presId="urn:microsoft.com/office/officeart/2018/2/layout/IconVerticalSolidList"/>
    <dgm:cxn modelId="{CE11F85E-70F9-4C13-A269-F17CCE17F975}" type="presParOf" srcId="{7204F6D6-01DB-4D1E-BB23-A57E995EC743}" destId="{9D608137-FB18-4FF5-8A64-74347D3D4B8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23489E-0988-435F-AFB2-BE7D90D45C8B}">
      <dsp:nvSpPr>
        <dsp:cNvPr id="0" name=""/>
        <dsp:cNvSpPr/>
      </dsp:nvSpPr>
      <dsp:spPr>
        <a:xfrm>
          <a:off x="0" y="3123"/>
          <a:ext cx="7796540" cy="6652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6DBFB0-A6F5-4C25-8F0C-08B8A14D4EAD}">
      <dsp:nvSpPr>
        <dsp:cNvPr id="0" name=""/>
        <dsp:cNvSpPr/>
      </dsp:nvSpPr>
      <dsp:spPr>
        <a:xfrm>
          <a:off x="201242" y="152807"/>
          <a:ext cx="365894" cy="3658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5683E35-C07F-43D9-84A3-2DB6663C4DCF}">
      <dsp:nvSpPr>
        <dsp:cNvPr id="0" name=""/>
        <dsp:cNvSpPr/>
      </dsp:nvSpPr>
      <dsp:spPr>
        <a:xfrm>
          <a:off x="768379" y="3123"/>
          <a:ext cx="7028160" cy="6652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407" tIns="70407" rIns="70407" bIns="70407" numCol="1" spcCol="1270" anchor="ctr" anchorCtr="0">
          <a:noAutofit/>
        </a:bodyPr>
        <a:lstStyle/>
        <a:p>
          <a:pPr marL="0" lvl="0" indent="0" algn="l" defTabSz="844550">
            <a:lnSpc>
              <a:spcPct val="100000"/>
            </a:lnSpc>
            <a:spcBef>
              <a:spcPct val="0"/>
            </a:spcBef>
            <a:spcAft>
              <a:spcPct val="35000"/>
            </a:spcAft>
            <a:buNone/>
          </a:pPr>
          <a:r>
            <a:rPr lang="en-CA" sz="1900" kern="1200" dirty="0">
              <a:solidFill>
                <a:schemeClr val="bg1"/>
              </a:solidFill>
            </a:rPr>
            <a:t>Introduction to PIPEDA</a:t>
          </a:r>
          <a:endParaRPr lang="en-US" sz="1900" kern="1200" dirty="0">
            <a:solidFill>
              <a:schemeClr val="bg1"/>
            </a:solidFill>
          </a:endParaRPr>
        </a:p>
      </dsp:txBody>
      <dsp:txXfrm>
        <a:off x="768379" y="3123"/>
        <a:ext cx="7028160" cy="665263"/>
      </dsp:txXfrm>
    </dsp:sp>
    <dsp:sp modelId="{93F1CA3B-3E0D-4EED-AF1B-A58E43484549}">
      <dsp:nvSpPr>
        <dsp:cNvPr id="0" name=""/>
        <dsp:cNvSpPr/>
      </dsp:nvSpPr>
      <dsp:spPr>
        <a:xfrm>
          <a:off x="0" y="834702"/>
          <a:ext cx="7796540" cy="6652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3160F9-EFC9-42FC-BBF3-E19C3D626CD7}">
      <dsp:nvSpPr>
        <dsp:cNvPr id="0" name=""/>
        <dsp:cNvSpPr/>
      </dsp:nvSpPr>
      <dsp:spPr>
        <a:xfrm>
          <a:off x="201242" y="984387"/>
          <a:ext cx="365894" cy="3658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42B621-40F9-4320-B73A-B0552C36EB69}">
      <dsp:nvSpPr>
        <dsp:cNvPr id="0" name=""/>
        <dsp:cNvSpPr/>
      </dsp:nvSpPr>
      <dsp:spPr>
        <a:xfrm>
          <a:off x="768379" y="834702"/>
          <a:ext cx="7028160" cy="6652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407" tIns="70407" rIns="70407" bIns="70407" numCol="1" spcCol="1270" anchor="ctr" anchorCtr="0">
          <a:noAutofit/>
        </a:bodyPr>
        <a:lstStyle/>
        <a:p>
          <a:pPr marL="0" lvl="0" indent="0" algn="l" defTabSz="844550">
            <a:lnSpc>
              <a:spcPct val="100000"/>
            </a:lnSpc>
            <a:spcBef>
              <a:spcPct val="0"/>
            </a:spcBef>
            <a:spcAft>
              <a:spcPct val="35000"/>
            </a:spcAft>
            <a:buNone/>
          </a:pPr>
          <a:r>
            <a:rPr lang="en-CA" sz="1900" kern="1200" dirty="0">
              <a:solidFill>
                <a:schemeClr val="bg1"/>
              </a:solidFill>
            </a:rPr>
            <a:t>PIPEDA Principles</a:t>
          </a:r>
          <a:endParaRPr lang="en-US" sz="1900" kern="1200" dirty="0">
            <a:solidFill>
              <a:schemeClr val="bg1"/>
            </a:solidFill>
          </a:endParaRPr>
        </a:p>
      </dsp:txBody>
      <dsp:txXfrm>
        <a:off x="768379" y="834702"/>
        <a:ext cx="7028160" cy="665263"/>
      </dsp:txXfrm>
    </dsp:sp>
    <dsp:sp modelId="{95E459AA-91F7-4783-BA03-A2B4C19F02CA}">
      <dsp:nvSpPr>
        <dsp:cNvPr id="0" name=""/>
        <dsp:cNvSpPr/>
      </dsp:nvSpPr>
      <dsp:spPr>
        <a:xfrm>
          <a:off x="0" y="1666282"/>
          <a:ext cx="7796540" cy="6652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8F792C-1093-4577-B7BA-D057884680DC}">
      <dsp:nvSpPr>
        <dsp:cNvPr id="0" name=""/>
        <dsp:cNvSpPr/>
      </dsp:nvSpPr>
      <dsp:spPr>
        <a:xfrm>
          <a:off x="201242" y="1815966"/>
          <a:ext cx="365894" cy="365894"/>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6FE1E2-C2A6-4487-B1E4-606B40046756}">
      <dsp:nvSpPr>
        <dsp:cNvPr id="0" name=""/>
        <dsp:cNvSpPr/>
      </dsp:nvSpPr>
      <dsp:spPr>
        <a:xfrm>
          <a:off x="768379" y="1666282"/>
          <a:ext cx="7028160" cy="6652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407" tIns="70407" rIns="70407" bIns="70407" numCol="1" spcCol="1270" anchor="ctr" anchorCtr="0">
          <a:noAutofit/>
        </a:bodyPr>
        <a:lstStyle/>
        <a:p>
          <a:pPr marL="0" lvl="0" indent="0" algn="l" defTabSz="844550">
            <a:lnSpc>
              <a:spcPct val="100000"/>
            </a:lnSpc>
            <a:spcBef>
              <a:spcPct val="0"/>
            </a:spcBef>
            <a:spcAft>
              <a:spcPct val="35000"/>
            </a:spcAft>
            <a:buNone/>
          </a:pPr>
          <a:r>
            <a:rPr lang="en-CA" sz="1900" kern="1200" dirty="0">
              <a:solidFill>
                <a:schemeClr val="bg1"/>
              </a:solidFill>
            </a:rPr>
            <a:t>Ethical Challenges in Business Analytics</a:t>
          </a:r>
        </a:p>
      </dsp:txBody>
      <dsp:txXfrm>
        <a:off x="768379" y="1666282"/>
        <a:ext cx="7028160" cy="665263"/>
      </dsp:txXfrm>
    </dsp:sp>
    <dsp:sp modelId="{D4CBD695-A767-4F03-B832-22835088B193}">
      <dsp:nvSpPr>
        <dsp:cNvPr id="0" name=""/>
        <dsp:cNvSpPr/>
      </dsp:nvSpPr>
      <dsp:spPr>
        <a:xfrm>
          <a:off x="0" y="2497861"/>
          <a:ext cx="7796540" cy="6652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D3B275-3D47-4C13-BD68-2EA20FE8DBB3}">
      <dsp:nvSpPr>
        <dsp:cNvPr id="0" name=""/>
        <dsp:cNvSpPr/>
      </dsp:nvSpPr>
      <dsp:spPr>
        <a:xfrm>
          <a:off x="201242" y="2647545"/>
          <a:ext cx="365894" cy="365894"/>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BE47CD7-1600-4788-A30D-25EAEEDD3AC6}">
      <dsp:nvSpPr>
        <dsp:cNvPr id="0" name=""/>
        <dsp:cNvSpPr/>
      </dsp:nvSpPr>
      <dsp:spPr>
        <a:xfrm>
          <a:off x="768379" y="2497861"/>
          <a:ext cx="7028160" cy="6652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407" tIns="70407" rIns="70407" bIns="70407" numCol="1" spcCol="1270" anchor="ctr" anchorCtr="0">
          <a:noAutofit/>
        </a:bodyPr>
        <a:lstStyle/>
        <a:p>
          <a:pPr marL="0" lvl="0" indent="0" algn="l" defTabSz="844550">
            <a:lnSpc>
              <a:spcPct val="100000"/>
            </a:lnSpc>
            <a:spcBef>
              <a:spcPct val="0"/>
            </a:spcBef>
            <a:spcAft>
              <a:spcPct val="35000"/>
            </a:spcAft>
            <a:buNone/>
          </a:pPr>
          <a:r>
            <a:rPr lang="en-CA" sz="1900" kern="1200" dirty="0">
              <a:solidFill>
                <a:schemeClr val="bg1"/>
              </a:solidFill>
            </a:rPr>
            <a:t>Future of Data Protection Challenges</a:t>
          </a:r>
        </a:p>
      </dsp:txBody>
      <dsp:txXfrm>
        <a:off x="768379" y="2497861"/>
        <a:ext cx="7028160" cy="665263"/>
      </dsp:txXfrm>
    </dsp:sp>
    <dsp:sp modelId="{F27CBF85-0FC5-4674-A63A-B2A8FD157E73}">
      <dsp:nvSpPr>
        <dsp:cNvPr id="0" name=""/>
        <dsp:cNvSpPr/>
      </dsp:nvSpPr>
      <dsp:spPr>
        <a:xfrm>
          <a:off x="0" y="3299703"/>
          <a:ext cx="7796540" cy="6652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0E0FE4-4635-4409-B46F-E7B3B0835500}">
      <dsp:nvSpPr>
        <dsp:cNvPr id="0" name=""/>
        <dsp:cNvSpPr/>
      </dsp:nvSpPr>
      <dsp:spPr>
        <a:xfrm>
          <a:off x="201242" y="3479125"/>
          <a:ext cx="365894" cy="365894"/>
        </a:xfrm>
        <a:prstGeom prst="rect">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D608137-FB18-4FF5-8A64-74347D3D4B87}">
      <dsp:nvSpPr>
        <dsp:cNvPr id="0" name=""/>
        <dsp:cNvSpPr/>
      </dsp:nvSpPr>
      <dsp:spPr>
        <a:xfrm>
          <a:off x="768379" y="3329441"/>
          <a:ext cx="7028160" cy="6652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407" tIns="70407" rIns="70407" bIns="70407" numCol="1" spcCol="1270" anchor="ctr" anchorCtr="0">
          <a:noAutofit/>
        </a:bodyPr>
        <a:lstStyle/>
        <a:p>
          <a:pPr marL="0" lvl="0" indent="0" algn="l" defTabSz="844550">
            <a:lnSpc>
              <a:spcPct val="100000"/>
            </a:lnSpc>
            <a:spcBef>
              <a:spcPct val="0"/>
            </a:spcBef>
            <a:spcAft>
              <a:spcPct val="35000"/>
            </a:spcAft>
            <a:buNone/>
          </a:pPr>
          <a:r>
            <a:rPr lang="en-CA" sz="1900" kern="1200" dirty="0">
              <a:solidFill>
                <a:schemeClr val="bg1"/>
              </a:solidFill>
            </a:rPr>
            <a:t>Questions &amp; Answers</a:t>
          </a:r>
        </a:p>
      </dsp:txBody>
      <dsp:txXfrm>
        <a:off x="768379" y="3329441"/>
        <a:ext cx="7028160" cy="66526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1A417A-B6D8-4FFE-A67C-718E42EE0249}" type="datetimeFigureOut">
              <a:rPr lang="en-CA" smtClean="0"/>
              <a:t>2026-05-28</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0F8534-D829-45C9-AB2D-585438AA0053}" type="slidenum">
              <a:rPr lang="en-CA" smtClean="0"/>
              <a:t>‹#›</a:t>
            </a:fld>
            <a:endParaRPr lang="en-CA"/>
          </a:p>
        </p:txBody>
      </p:sp>
    </p:spTree>
    <p:extLst>
      <p:ext uri="{BB962C8B-B14F-4D97-AF65-F5344CB8AC3E}">
        <p14:creationId xmlns:p14="http://schemas.microsoft.com/office/powerpoint/2010/main" val="186979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950F8534-D829-45C9-AB2D-585438AA0053}" type="slidenum">
              <a:rPr lang="en-CA" smtClean="0"/>
              <a:t>2</a:t>
            </a:fld>
            <a:endParaRPr lang="en-CA"/>
          </a:p>
        </p:txBody>
      </p:sp>
    </p:spTree>
    <p:extLst>
      <p:ext uri="{BB962C8B-B14F-4D97-AF65-F5344CB8AC3E}">
        <p14:creationId xmlns:p14="http://schemas.microsoft.com/office/powerpoint/2010/main" val="4233623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everyone.</a:t>
            </a:r>
          </a:p>
          <a:p>
            <a:endParaRPr lang="en-US" dirty="0"/>
          </a:p>
          <a:p>
            <a:r>
              <a:rPr lang="en-US" dirty="0"/>
              <a:t>Today, I’ll be introducing PIPEDA, which stands for the </a:t>
            </a:r>
            <a:r>
              <a:rPr lang="en-US" b="1" dirty="0"/>
              <a:t>Personal Information Protection and Electronic Documents Act.</a:t>
            </a:r>
          </a:p>
          <a:p>
            <a:endParaRPr lang="en-US" dirty="0"/>
          </a:p>
          <a:p>
            <a:r>
              <a:rPr lang="en-US" dirty="0"/>
              <a:t>PIPEDA is Canada’s main federal private-sector privacy law. It regulates how organizations collect, use, and disclose personal information during commercial activities.</a:t>
            </a:r>
          </a:p>
          <a:p>
            <a:endParaRPr lang="en-US" dirty="0"/>
          </a:p>
          <a:p>
            <a:r>
              <a:rPr lang="en-US" dirty="0"/>
              <a:t>Privacy law is a rapidly evolving area, especially as technology, artificial intelligence, cloud computing, and data sharing continue to grow.</a:t>
            </a:r>
          </a:p>
          <a:p>
            <a:endParaRPr lang="en-US" dirty="0"/>
          </a:p>
          <a:p>
            <a:r>
              <a:rPr lang="en-US" dirty="0"/>
              <a:t>Although Canada is expected to eventually modernize or replace parts of PIPEDA, the principles behind the law remain extremely important because they form the foundation of privacy protection in Canada.</a:t>
            </a:r>
          </a:p>
          <a:p>
            <a:endParaRPr lang="en-US" dirty="0"/>
          </a:p>
          <a:p>
            <a:r>
              <a:rPr lang="en-US" dirty="0"/>
              <a:t>In this presentation, we’ll first look at the Canadian privacy law landscape, then discuss what PIPEDA is, key concepts within the law, and finally the 10 privacy principles that organizations are expected to follow.</a:t>
            </a:r>
          </a:p>
          <a:p>
            <a:endParaRPr lang="en-CA" dirty="0"/>
          </a:p>
        </p:txBody>
      </p:sp>
      <p:sp>
        <p:nvSpPr>
          <p:cNvPr id="4" name="Slide Number Placeholder 3"/>
          <p:cNvSpPr>
            <a:spLocks noGrp="1"/>
          </p:cNvSpPr>
          <p:nvPr>
            <p:ph type="sldNum" sz="quarter" idx="5"/>
          </p:nvPr>
        </p:nvSpPr>
        <p:spPr/>
        <p:txBody>
          <a:bodyPr/>
          <a:lstStyle/>
          <a:p>
            <a:fld id="{950F8534-D829-45C9-AB2D-585438AA0053}" type="slidenum">
              <a:rPr lang="en-CA" smtClean="0"/>
              <a:t>3</a:t>
            </a:fld>
            <a:endParaRPr lang="en-CA"/>
          </a:p>
        </p:txBody>
      </p:sp>
    </p:spTree>
    <p:extLst>
      <p:ext uri="{BB962C8B-B14F-4D97-AF65-F5344CB8AC3E}">
        <p14:creationId xmlns:p14="http://schemas.microsoft.com/office/powerpoint/2010/main" val="1093808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PIPEDA, it’s important to first understand the Canadian privacy law landscape.</a:t>
            </a:r>
            <a:br>
              <a:rPr lang="en-US" dirty="0"/>
            </a:br>
            <a:endParaRPr lang="en-US" dirty="0"/>
          </a:p>
          <a:p>
            <a:r>
              <a:rPr lang="en-US" dirty="0"/>
              <a:t>Canada does not have just one privacy law. Instead, we have a combination- or what many describe as a mosaic- of federal and provincial privacy laws.</a:t>
            </a:r>
            <a:br>
              <a:rPr lang="en-US" dirty="0"/>
            </a:br>
            <a:endParaRPr lang="en-US" dirty="0"/>
          </a:p>
          <a:p>
            <a:r>
              <a:rPr lang="en-US" dirty="0"/>
              <a:t>This exists because Canada is a federal system with both federal and provincial governments sharing legislative powers under the Constitution.</a:t>
            </a:r>
          </a:p>
          <a:p>
            <a:br>
              <a:rPr lang="en-US" dirty="0"/>
            </a:br>
            <a:r>
              <a:rPr lang="en-US" dirty="0"/>
              <a:t>Generally:</a:t>
            </a:r>
          </a:p>
          <a:p>
            <a:pPr marL="171450" indent="-171450">
              <a:buFont typeface="Arial" panose="020B0604020202020204" pitchFamily="34" charset="0"/>
              <a:buChar char="•"/>
            </a:pPr>
            <a:r>
              <a:rPr lang="en-US" dirty="0"/>
              <a:t>Provinces regulate privacy as part of property and civil rights,</a:t>
            </a:r>
          </a:p>
          <a:p>
            <a:pPr marL="171450" indent="-171450">
              <a:buFont typeface="Arial" panose="020B0604020202020204" pitchFamily="34" charset="0"/>
              <a:buChar char="•"/>
            </a:pPr>
            <a:r>
              <a:rPr lang="en-US" dirty="0"/>
              <a:t>while the federal government regulates trade and commerce and federally regulated industries.</a:t>
            </a:r>
            <a:br>
              <a:rPr lang="en-US" dirty="0"/>
            </a:br>
            <a:endParaRPr lang="en-US" dirty="0"/>
          </a:p>
          <a:p>
            <a:r>
              <a:rPr lang="en-US" dirty="0"/>
              <a:t>As a result, different privacy laws apply depending on:</a:t>
            </a:r>
          </a:p>
          <a:p>
            <a:pPr marL="171450" indent="-171450">
              <a:buFont typeface="Arial" panose="020B0604020202020204" pitchFamily="34" charset="0"/>
              <a:buChar char="•"/>
            </a:pPr>
            <a:r>
              <a:rPr lang="en-US" dirty="0"/>
              <a:t>the province,</a:t>
            </a:r>
          </a:p>
          <a:p>
            <a:pPr marL="171450" indent="-171450">
              <a:buFont typeface="Arial" panose="020B0604020202020204" pitchFamily="34" charset="0"/>
              <a:buChar char="•"/>
            </a:pPr>
            <a:r>
              <a:rPr lang="en-US" dirty="0"/>
              <a:t>the sector,</a:t>
            </a:r>
          </a:p>
          <a:p>
            <a:pPr marL="171450" indent="-171450">
              <a:buFont typeface="Arial" panose="020B0604020202020204" pitchFamily="34" charset="0"/>
              <a:buChar char="•"/>
            </a:pPr>
            <a:r>
              <a:rPr lang="en-US" dirty="0"/>
              <a:t>and the type of organization involved.</a:t>
            </a:r>
            <a:br>
              <a:rPr lang="en-US" dirty="0"/>
            </a:br>
            <a:endParaRPr lang="en-US" dirty="0"/>
          </a:p>
          <a:p>
            <a:r>
              <a:rPr lang="en-US" dirty="0"/>
              <a:t>For example:</a:t>
            </a:r>
          </a:p>
          <a:p>
            <a:pPr marL="171450" indent="-171450">
              <a:buFont typeface="Arial" panose="020B0604020202020204" pitchFamily="34" charset="0"/>
              <a:buChar char="•"/>
            </a:pPr>
            <a:r>
              <a:rPr lang="en-US" dirty="0"/>
              <a:t>public sector organizations are covered by public-sector privacy laws,</a:t>
            </a:r>
          </a:p>
          <a:p>
            <a:pPr marL="171450" indent="-171450">
              <a:buFont typeface="Arial" panose="020B0604020202020204" pitchFamily="34" charset="0"/>
              <a:buChar char="•"/>
            </a:pPr>
            <a:r>
              <a:rPr lang="en-US" dirty="0"/>
              <a:t>health-care organizations may be covered by specialized health privacy legislation,</a:t>
            </a:r>
          </a:p>
          <a:p>
            <a:pPr marL="171450" indent="-171450">
              <a:buFont typeface="Arial" panose="020B0604020202020204" pitchFamily="34" charset="0"/>
              <a:buChar char="•"/>
            </a:pPr>
            <a:r>
              <a:rPr lang="en-US" dirty="0"/>
              <a:t>and private businesses are generally covered either by PIPEDA or provincial private-sector privacy laws.</a:t>
            </a:r>
            <a:br>
              <a:rPr lang="en-US" dirty="0"/>
            </a:br>
            <a:endParaRPr lang="en-US" dirty="0"/>
          </a:p>
          <a:p>
            <a:r>
              <a:rPr lang="en-US" dirty="0"/>
              <a:t>This creates overlapping jurisdiction, but in practice the laws generally work together.</a:t>
            </a:r>
          </a:p>
          <a:p>
            <a:endParaRPr lang="en-CA" dirty="0"/>
          </a:p>
        </p:txBody>
      </p:sp>
      <p:sp>
        <p:nvSpPr>
          <p:cNvPr id="4" name="Slide Number Placeholder 3"/>
          <p:cNvSpPr>
            <a:spLocks noGrp="1"/>
          </p:cNvSpPr>
          <p:nvPr>
            <p:ph type="sldNum" sz="quarter" idx="5"/>
          </p:nvPr>
        </p:nvSpPr>
        <p:spPr/>
        <p:txBody>
          <a:bodyPr/>
          <a:lstStyle/>
          <a:p>
            <a:fld id="{950F8534-D829-45C9-AB2D-585438AA0053}" type="slidenum">
              <a:rPr lang="en-CA" smtClean="0"/>
              <a:t>4</a:t>
            </a:fld>
            <a:endParaRPr lang="en-CA"/>
          </a:p>
        </p:txBody>
      </p:sp>
    </p:spTree>
    <p:extLst>
      <p:ext uri="{BB962C8B-B14F-4D97-AF65-F5344CB8AC3E}">
        <p14:creationId xmlns:p14="http://schemas.microsoft.com/office/powerpoint/2010/main" val="26637828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PIPEDA is Canada’s federal private-sector privacy law.</a:t>
            </a:r>
            <a:br>
              <a:rPr lang="en-US" dirty="0"/>
            </a:br>
            <a:endParaRPr lang="en-US" dirty="0"/>
          </a:p>
          <a:p>
            <a:r>
              <a:rPr lang="en-US" dirty="0"/>
              <a:t>Its full name is the Personal Information Protection and Electronic Documents Act.</a:t>
            </a:r>
            <a:br>
              <a:rPr lang="en-US" dirty="0"/>
            </a:br>
            <a:endParaRPr lang="en-US" dirty="0"/>
          </a:p>
          <a:p>
            <a:r>
              <a:rPr lang="en-US" dirty="0"/>
              <a:t>The law applies primarily to the collection, use, and disclosure of personal information during commercial activities.</a:t>
            </a:r>
            <a:br>
              <a:rPr lang="en-US" dirty="0"/>
            </a:br>
            <a:endParaRPr lang="en-US" dirty="0"/>
          </a:p>
          <a:p>
            <a:r>
              <a:rPr lang="en-US" dirty="0"/>
              <a:t>PIPEDA was developed in the late 1990s and was heavily based on something called the Canadian Standards Association Model Code for the Protection of Personal Information.</a:t>
            </a:r>
            <a:br>
              <a:rPr lang="en-US" dirty="0"/>
            </a:br>
            <a:endParaRPr lang="en-US" dirty="0"/>
          </a:p>
          <a:p>
            <a:r>
              <a:rPr lang="en-US" dirty="0"/>
              <a:t>Instead of creating an entirely new framework, the federal government adopted this existing privacy code and built the law around its 10 privacy principles.</a:t>
            </a:r>
            <a:br>
              <a:rPr lang="en-US" dirty="0"/>
            </a:br>
            <a:endParaRPr lang="en-US" dirty="0"/>
          </a:p>
          <a:p>
            <a:r>
              <a:rPr lang="en-US" dirty="0"/>
              <a:t>PIPEDA officially came fully into effect in 2004.</a:t>
            </a:r>
            <a:br>
              <a:rPr lang="en-US" dirty="0"/>
            </a:br>
            <a:endParaRPr lang="en-US" dirty="0"/>
          </a:p>
          <a:p>
            <a:r>
              <a:rPr lang="en-US" dirty="0"/>
              <a:t>Today, some provinces- including Quebec, Alberta, and British Columbia- have their own private-sector privacy laws that are considered substantially similar to PIPEDA.</a:t>
            </a:r>
            <a:br>
              <a:rPr lang="en-US" dirty="0"/>
            </a:br>
            <a:endParaRPr lang="en-US" dirty="0"/>
          </a:p>
          <a:p>
            <a:r>
              <a:rPr lang="en-US" dirty="0"/>
              <a:t>In those provinces, the provincial law often applies instead of the federal law for many business activities.</a:t>
            </a:r>
            <a:br>
              <a:rPr lang="en-US" dirty="0"/>
            </a:br>
            <a:endParaRPr lang="en-US" dirty="0"/>
          </a:p>
          <a:p>
            <a:r>
              <a:rPr lang="en-US" dirty="0"/>
              <a:t>Even though PIPEDA is over 20 years old, it still plays a central role in Canadian privacy law and continues to influence how organizations manage personal information.</a:t>
            </a:r>
          </a:p>
          <a:p>
            <a:endParaRPr lang="en-CA" dirty="0"/>
          </a:p>
        </p:txBody>
      </p:sp>
      <p:sp>
        <p:nvSpPr>
          <p:cNvPr id="4" name="Slide Number Placeholder 3"/>
          <p:cNvSpPr>
            <a:spLocks noGrp="1"/>
          </p:cNvSpPr>
          <p:nvPr>
            <p:ph type="sldNum" sz="quarter" idx="5"/>
          </p:nvPr>
        </p:nvSpPr>
        <p:spPr/>
        <p:txBody>
          <a:bodyPr/>
          <a:lstStyle/>
          <a:p>
            <a:fld id="{950F8534-D829-45C9-AB2D-585438AA0053}" type="slidenum">
              <a:rPr lang="en-CA" smtClean="0"/>
              <a:t>5</a:t>
            </a:fld>
            <a:endParaRPr lang="en-CA"/>
          </a:p>
        </p:txBody>
      </p:sp>
    </p:spTree>
    <p:extLst>
      <p:ext uri="{BB962C8B-B14F-4D97-AF65-F5344CB8AC3E}">
        <p14:creationId xmlns:p14="http://schemas.microsoft.com/office/powerpoint/2010/main" val="39809286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discussing the 10 principles, there are a few important concepts within PIPEDA that help explain how the law works.</a:t>
            </a:r>
            <a:br>
              <a:rPr lang="en-US" dirty="0"/>
            </a:br>
            <a:endParaRPr lang="en-US" dirty="0"/>
          </a:p>
          <a:p>
            <a:r>
              <a:rPr lang="en-US" dirty="0"/>
              <a:t>The first key concept is commercial activity.</a:t>
            </a:r>
            <a:br>
              <a:rPr lang="en-US" dirty="0"/>
            </a:br>
            <a:endParaRPr lang="en-US" dirty="0"/>
          </a:p>
          <a:p>
            <a:r>
              <a:rPr lang="en-US" dirty="0"/>
              <a:t>PIPEDA applies when organizations collect, use, or disclose personal information during commercial activities.</a:t>
            </a:r>
            <a:br>
              <a:rPr lang="en-US" dirty="0"/>
            </a:br>
            <a:endParaRPr lang="en-US" dirty="0"/>
          </a:p>
          <a:p>
            <a:r>
              <a:rPr lang="en-US" dirty="0"/>
              <a:t>Another important concept is personal information.</a:t>
            </a:r>
            <a:br>
              <a:rPr lang="en-US" dirty="0"/>
            </a:br>
            <a:endParaRPr lang="en-US" dirty="0"/>
          </a:p>
          <a:p>
            <a:r>
              <a:rPr lang="en-US" dirty="0"/>
              <a:t>Under PIPEDA, personal information means any information about an identifiable individual.</a:t>
            </a:r>
            <a:br>
              <a:rPr lang="en-US" dirty="0"/>
            </a:br>
            <a:endParaRPr lang="en-US" dirty="0"/>
          </a:p>
          <a:p>
            <a:r>
              <a:rPr lang="en-US" dirty="0"/>
              <a:t>This definition is extremely broad and includes things like:</a:t>
            </a:r>
          </a:p>
          <a:p>
            <a:pPr marL="171450" indent="-171450">
              <a:buFont typeface="Arial" panose="020B0604020202020204" pitchFamily="34" charset="0"/>
              <a:buChar char="•"/>
            </a:pPr>
            <a:r>
              <a:rPr lang="en-US" dirty="0"/>
              <a:t>names,</a:t>
            </a:r>
          </a:p>
          <a:p>
            <a:pPr marL="171450" indent="-171450">
              <a:buFont typeface="Arial" panose="020B0604020202020204" pitchFamily="34" charset="0"/>
              <a:buChar char="•"/>
            </a:pPr>
            <a:r>
              <a:rPr lang="en-US" dirty="0"/>
              <a:t>addresses,</a:t>
            </a:r>
          </a:p>
          <a:p>
            <a:pPr marL="171450" indent="-171450">
              <a:buFont typeface="Arial" panose="020B0604020202020204" pitchFamily="34" charset="0"/>
              <a:buChar char="•"/>
            </a:pPr>
            <a:r>
              <a:rPr lang="en-US" dirty="0"/>
              <a:t>financial information,</a:t>
            </a:r>
          </a:p>
          <a:p>
            <a:pPr marL="171450" indent="-171450">
              <a:buFont typeface="Arial" panose="020B0604020202020204" pitchFamily="34" charset="0"/>
              <a:buChar char="•"/>
            </a:pPr>
            <a:r>
              <a:rPr lang="en-US" dirty="0"/>
              <a:t>health records,</a:t>
            </a:r>
          </a:p>
          <a:p>
            <a:pPr marL="171450" indent="-171450">
              <a:buFont typeface="Arial" panose="020B0604020202020204" pitchFamily="34" charset="0"/>
              <a:buChar char="•"/>
            </a:pPr>
            <a:r>
              <a:rPr lang="en-US" dirty="0"/>
              <a:t>photographs,</a:t>
            </a:r>
          </a:p>
          <a:p>
            <a:pPr marL="171450" indent="-171450">
              <a:buFont typeface="Arial" panose="020B0604020202020204" pitchFamily="34" charset="0"/>
              <a:buChar char="•"/>
            </a:pPr>
            <a:r>
              <a:rPr lang="en-US" dirty="0"/>
              <a:t>biometric data,</a:t>
            </a:r>
          </a:p>
          <a:p>
            <a:pPr marL="171450" indent="-171450">
              <a:buFont typeface="Arial" panose="020B0604020202020204" pitchFamily="34" charset="0"/>
              <a:buChar char="•"/>
            </a:pPr>
            <a:r>
              <a:rPr lang="en-US" dirty="0"/>
              <a:t>and online identifiers.</a:t>
            </a:r>
            <a:br>
              <a:rPr lang="en-US" dirty="0"/>
            </a:br>
            <a:endParaRPr lang="en-US" dirty="0"/>
          </a:p>
          <a:p>
            <a:r>
              <a:rPr lang="en-US" dirty="0"/>
              <a:t>If a person can reasonably be identified from the information, it will likely be considered personal information under the law.</a:t>
            </a:r>
            <a:br>
              <a:rPr lang="en-US" dirty="0"/>
            </a:br>
            <a:endParaRPr lang="en-US" dirty="0"/>
          </a:p>
          <a:p>
            <a:r>
              <a:rPr lang="en-US" dirty="0"/>
              <a:t>PIPEDA is also built around consent.</a:t>
            </a:r>
            <a:br>
              <a:rPr lang="en-US" dirty="0"/>
            </a:br>
            <a:endParaRPr lang="en-US" dirty="0"/>
          </a:p>
          <a:p>
            <a:r>
              <a:rPr lang="en-US" dirty="0"/>
              <a:t>In most situations, organizations need an individual’s knowledge and consent before collecting, using, or disclosing their personal information.</a:t>
            </a:r>
            <a:br>
              <a:rPr lang="en-US" dirty="0"/>
            </a:br>
            <a:endParaRPr lang="en-US" dirty="0"/>
          </a:p>
          <a:p>
            <a:r>
              <a:rPr lang="en-US" dirty="0"/>
              <a:t>Finally, PIPEDA includes a baseline reasonableness requirement.</a:t>
            </a:r>
            <a:br>
              <a:rPr lang="en-US" dirty="0"/>
            </a:br>
            <a:endParaRPr lang="en-US" dirty="0"/>
          </a:p>
          <a:p>
            <a:r>
              <a:rPr lang="en-US" dirty="0"/>
              <a:t>Even if an organization obtains consent, it can only collect, use, or disclose information for purposes that a reasonable person would consider appropriate in the circumstances.</a:t>
            </a:r>
          </a:p>
          <a:p>
            <a:r>
              <a:rPr lang="en-US" dirty="0"/>
              <a:t>This acts as an important safeguard against unreasonable or excessive data practices.</a:t>
            </a:r>
          </a:p>
          <a:p>
            <a:endParaRPr lang="en-CA" dirty="0"/>
          </a:p>
        </p:txBody>
      </p:sp>
      <p:sp>
        <p:nvSpPr>
          <p:cNvPr id="4" name="Slide Number Placeholder 3"/>
          <p:cNvSpPr>
            <a:spLocks noGrp="1"/>
          </p:cNvSpPr>
          <p:nvPr>
            <p:ph type="sldNum" sz="quarter" idx="5"/>
          </p:nvPr>
        </p:nvSpPr>
        <p:spPr/>
        <p:txBody>
          <a:bodyPr/>
          <a:lstStyle/>
          <a:p>
            <a:fld id="{950F8534-D829-45C9-AB2D-585438AA0053}" type="slidenum">
              <a:rPr lang="en-CA" smtClean="0"/>
              <a:t>6</a:t>
            </a:fld>
            <a:endParaRPr lang="en-CA"/>
          </a:p>
        </p:txBody>
      </p:sp>
    </p:spTree>
    <p:extLst>
      <p:ext uri="{BB962C8B-B14F-4D97-AF65-F5344CB8AC3E}">
        <p14:creationId xmlns:p14="http://schemas.microsoft.com/office/powerpoint/2010/main" val="2521019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core of PIPEDA are 10 privacy principles taken from the Canadian Standards Association Model Code.</a:t>
            </a:r>
            <a:br>
              <a:rPr lang="en-US" dirty="0"/>
            </a:br>
            <a:endParaRPr lang="en-US" dirty="0"/>
          </a:p>
          <a:p>
            <a:r>
              <a:rPr lang="en-US" dirty="0"/>
              <a:t>These principles form the foundation of how organizations are expected to manage personal information in Canada.</a:t>
            </a:r>
          </a:p>
          <a:p>
            <a:endParaRPr lang="en-US" dirty="0"/>
          </a:p>
          <a:p>
            <a:r>
              <a:rPr lang="en-US" dirty="0"/>
              <a:t>The principles focus on:</a:t>
            </a:r>
          </a:p>
          <a:p>
            <a:pPr marL="171450" indent="-171450">
              <a:buFont typeface="Arial" panose="020B0604020202020204" pitchFamily="34" charset="0"/>
              <a:buChar char="•"/>
            </a:pPr>
            <a:r>
              <a:rPr lang="en-US" dirty="0"/>
              <a:t>accountability,</a:t>
            </a:r>
          </a:p>
          <a:p>
            <a:pPr marL="171450" indent="-171450">
              <a:buFont typeface="Arial" panose="020B0604020202020204" pitchFamily="34" charset="0"/>
              <a:buChar char="•"/>
            </a:pPr>
            <a:r>
              <a:rPr lang="en-US" dirty="0"/>
              <a:t>transparency,</a:t>
            </a:r>
          </a:p>
          <a:p>
            <a:pPr marL="171450" indent="-171450">
              <a:buFont typeface="Arial" panose="020B0604020202020204" pitchFamily="34" charset="0"/>
              <a:buChar char="•"/>
            </a:pPr>
            <a:r>
              <a:rPr lang="en-US" dirty="0"/>
              <a:t>consent,</a:t>
            </a:r>
          </a:p>
          <a:p>
            <a:pPr marL="171450" indent="-171450">
              <a:buFont typeface="Arial" panose="020B0604020202020204" pitchFamily="34" charset="0"/>
              <a:buChar char="•"/>
            </a:pPr>
            <a:r>
              <a:rPr lang="en-US" dirty="0"/>
              <a:t>accuracy,</a:t>
            </a:r>
          </a:p>
          <a:p>
            <a:pPr marL="171450" indent="-171450">
              <a:buFont typeface="Arial" panose="020B0604020202020204" pitchFamily="34" charset="0"/>
              <a:buChar char="•"/>
            </a:pPr>
            <a:r>
              <a:rPr lang="en-US" dirty="0"/>
              <a:t>security,</a:t>
            </a:r>
          </a:p>
          <a:p>
            <a:pPr marL="171450" indent="-171450">
              <a:buFont typeface="Arial" panose="020B0604020202020204" pitchFamily="34" charset="0"/>
              <a:buChar char="•"/>
            </a:pPr>
            <a:r>
              <a:rPr lang="en-US" dirty="0"/>
              <a:t>and individual rights.</a:t>
            </a:r>
            <a:br>
              <a:rPr lang="en-US" dirty="0"/>
            </a:br>
            <a:endParaRPr lang="en-US" dirty="0"/>
          </a:p>
          <a:p>
            <a:r>
              <a:rPr lang="en-US" dirty="0"/>
              <a:t>Although each principle is separate, they are highly interconnected.</a:t>
            </a:r>
            <a:br>
              <a:rPr lang="en-US" dirty="0"/>
            </a:br>
            <a:endParaRPr lang="en-US" dirty="0"/>
          </a:p>
          <a:p>
            <a:r>
              <a:rPr lang="en-US" dirty="0"/>
              <a:t>For example:</a:t>
            </a:r>
          </a:p>
          <a:p>
            <a:pPr marL="171450" indent="-171450">
              <a:buFont typeface="Arial" panose="020B0604020202020204" pitchFamily="34" charset="0"/>
              <a:buChar char="•"/>
            </a:pPr>
            <a:r>
              <a:rPr lang="en-US" dirty="0"/>
              <a:t>organizations must first identify their purposes before they can obtain meaningful consent,</a:t>
            </a:r>
          </a:p>
          <a:p>
            <a:pPr marL="171450" indent="-171450">
              <a:buFont typeface="Arial" panose="020B0604020202020204" pitchFamily="34" charset="0"/>
              <a:buChar char="•"/>
            </a:pPr>
            <a:r>
              <a:rPr lang="en-US" dirty="0"/>
              <a:t>and the identified purposes later determine what information can be collected, how it can be used, and how long it can be retained.</a:t>
            </a:r>
          </a:p>
          <a:p>
            <a:pPr marL="171450" indent="-171450">
              <a:buFont typeface="Arial" panose="020B0604020202020204" pitchFamily="34" charset="0"/>
              <a:buChar char="•"/>
            </a:pPr>
            <a:endParaRPr lang="en-US" dirty="0"/>
          </a:p>
          <a:p>
            <a:r>
              <a:rPr lang="en-US" dirty="0"/>
              <a:t>The 10 principles together create a framework designed to balance business operations with the protection of individual privacy rights.</a:t>
            </a:r>
            <a:br>
              <a:rPr lang="en-US" dirty="0"/>
            </a:br>
            <a:endParaRPr lang="en-US" dirty="0"/>
          </a:p>
          <a:p>
            <a:r>
              <a:rPr lang="en-US" dirty="0"/>
              <a:t>The rest of this presentation will walk through each of these principles and explain how they operate under PIPEDA.</a:t>
            </a:r>
          </a:p>
          <a:p>
            <a:endParaRPr lang="en-CA" dirty="0"/>
          </a:p>
        </p:txBody>
      </p:sp>
      <p:sp>
        <p:nvSpPr>
          <p:cNvPr id="4" name="Slide Number Placeholder 3"/>
          <p:cNvSpPr>
            <a:spLocks noGrp="1"/>
          </p:cNvSpPr>
          <p:nvPr>
            <p:ph type="sldNum" sz="quarter" idx="5"/>
          </p:nvPr>
        </p:nvSpPr>
        <p:spPr/>
        <p:txBody>
          <a:bodyPr/>
          <a:lstStyle/>
          <a:p>
            <a:fld id="{950F8534-D829-45C9-AB2D-585438AA0053}" type="slidenum">
              <a:rPr lang="en-CA" smtClean="0"/>
              <a:t>7</a:t>
            </a:fld>
            <a:endParaRPr lang="en-CA"/>
          </a:p>
        </p:txBody>
      </p:sp>
    </p:spTree>
    <p:extLst>
      <p:ext uri="{BB962C8B-B14F-4D97-AF65-F5344CB8AC3E}">
        <p14:creationId xmlns:p14="http://schemas.microsoft.com/office/powerpoint/2010/main" val="992340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principle of PIPEDA is Accountability.</a:t>
            </a:r>
            <a:br>
              <a:rPr lang="en-US" dirty="0"/>
            </a:br>
            <a:br>
              <a:rPr lang="en-US" dirty="0"/>
            </a:br>
            <a:r>
              <a:rPr lang="en-US" dirty="0"/>
              <a:t>This principle says that organizations are responsible for any personal information under their control.</a:t>
            </a:r>
          </a:p>
          <a:p>
            <a:r>
              <a:rPr lang="en-US" dirty="0"/>
              <a:t>Under PIPEDA, organizations must appoint a person (often called a Privacy Officer) who is responsible for ensuring the organization follows privacy laws and complies with all ten PIPEDA principles.</a:t>
            </a:r>
            <a:br>
              <a:rPr lang="en-US" dirty="0"/>
            </a:br>
            <a:endParaRPr lang="en-US" dirty="0"/>
          </a:p>
          <a:p>
            <a:r>
              <a:rPr lang="en-US" dirty="0"/>
              <a:t>An important point is that the Privacy Officer is </a:t>
            </a:r>
            <a:r>
              <a:rPr lang="en-US" b="1" dirty="0"/>
              <a:t>not</a:t>
            </a:r>
            <a:r>
              <a:rPr lang="en-US" dirty="0"/>
              <a:t> personally liable for privacy breaches. Instead, they act as the internal leader responsible for privacy compliance, customer concerns, and communication with regulators.</a:t>
            </a:r>
          </a:p>
          <a:p>
            <a:r>
              <a:rPr lang="en-US" dirty="0"/>
              <a:t>Accountability also means that organizations remain responsible for personal information even when they transfer it to a third party for processing.</a:t>
            </a:r>
            <a:br>
              <a:rPr lang="en-US" dirty="0"/>
            </a:br>
            <a:endParaRPr lang="en-US" dirty="0"/>
          </a:p>
          <a:p>
            <a:r>
              <a:rPr lang="en-US" dirty="0"/>
              <a:t>For example, if a company hires a cloud storage provider or payroll company to manage customer information, the original organization is still legally responsible for protecting that data.</a:t>
            </a:r>
          </a:p>
          <a:p>
            <a:br>
              <a:rPr lang="en-US" dirty="0"/>
            </a:br>
            <a:r>
              <a:rPr lang="en-US" dirty="0"/>
              <a:t>This introduces an important distinction between a transfer and a disclosure.</a:t>
            </a:r>
            <a:br>
              <a:rPr lang="en-US" dirty="0"/>
            </a:br>
            <a:endParaRPr lang="en-US" dirty="0"/>
          </a:p>
          <a:p>
            <a:r>
              <a:rPr lang="en-US" dirty="0"/>
              <a:t>A transfer happens when information is shared with a service provider that is only processing the information on behalf of the original organization. In this case, consent is generally not required because the original organization still controls the information.</a:t>
            </a:r>
            <a:br>
              <a:rPr lang="en-US" dirty="0"/>
            </a:br>
            <a:endParaRPr lang="en-US" dirty="0"/>
          </a:p>
          <a:p>
            <a:r>
              <a:rPr lang="en-US" dirty="0"/>
              <a:t>A disclosure is different. A disclosure occurs when information is shared with another organization so that organization can use the information for its own purposes. In that case, consent is required.</a:t>
            </a:r>
            <a:br>
              <a:rPr lang="en-US" dirty="0"/>
            </a:br>
            <a:endParaRPr lang="en-US" dirty="0"/>
          </a:p>
          <a:p>
            <a:r>
              <a:rPr lang="en-US" dirty="0"/>
              <a:t>This principle is important because it establishes that organizations cannot avoid responsibility simply by outsourcing data handling to another company. Accountability remains with the organization that originally collected the information.</a:t>
            </a:r>
          </a:p>
          <a:p>
            <a:endParaRPr lang="en-CA" dirty="0"/>
          </a:p>
        </p:txBody>
      </p:sp>
      <p:sp>
        <p:nvSpPr>
          <p:cNvPr id="4" name="Slide Number Placeholder 3"/>
          <p:cNvSpPr>
            <a:spLocks noGrp="1"/>
          </p:cNvSpPr>
          <p:nvPr>
            <p:ph type="sldNum" sz="quarter" idx="5"/>
          </p:nvPr>
        </p:nvSpPr>
        <p:spPr/>
        <p:txBody>
          <a:bodyPr/>
          <a:lstStyle/>
          <a:p>
            <a:fld id="{950F8534-D829-45C9-AB2D-585438AA0053}" type="slidenum">
              <a:rPr lang="en-CA" smtClean="0"/>
              <a:t>8</a:t>
            </a:fld>
            <a:endParaRPr lang="en-CA"/>
          </a:p>
        </p:txBody>
      </p:sp>
    </p:spTree>
    <p:extLst>
      <p:ext uri="{BB962C8B-B14F-4D97-AF65-F5344CB8AC3E}">
        <p14:creationId xmlns:p14="http://schemas.microsoft.com/office/powerpoint/2010/main" val="26144441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principle of PIPEDA is Identifying Purposes, and this principle is closely connected to Principle 3 consent.</a:t>
            </a:r>
            <a:br>
              <a:rPr lang="en-US" dirty="0"/>
            </a:br>
            <a:endParaRPr lang="en-US" dirty="0"/>
          </a:p>
          <a:p>
            <a:r>
              <a:rPr lang="en-US" dirty="0"/>
              <a:t>This principle says that organizations must identify the reasons why they are collecting personal information at or before the time the information is collected.</a:t>
            </a:r>
            <a:br>
              <a:rPr lang="en-US" dirty="0"/>
            </a:br>
            <a:endParaRPr lang="en-US" dirty="0"/>
          </a:p>
          <a:p>
            <a:r>
              <a:rPr lang="en-US" dirty="0"/>
              <a:t>There are really two parts to this principle.</a:t>
            </a:r>
          </a:p>
          <a:p>
            <a:r>
              <a:rPr lang="en-US" dirty="0"/>
              <a:t>First, the organization must internally determine and document exactly why it is collecting the information.</a:t>
            </a:r>
          </a:p>
          <a:p>
            <a:r>
              <a:rPr lang="en-US" dirty="0"/>
              <a:t>Second, those purposes must be clearly communicated to the individual before the information is collected or used.</a:t>
            </a:r>
            <a:br>
              <a:rPr lang="en-US" dirty="0"/>
            </a:br>
            <a:endParaRPr lang="en-US" dirty="0"/>
          </a:p>
          <a:p>
            <a:r>
              <a:rPr lang="en-US" dirty="0"/>
              <a:t>For example, if a company asks for a customer’s email address, the company should explain whether the email will be used for account verification, customer service, marketing, or all of those purposes.</a:t>
            </a:r>
          </a:p>
          <a:p>
            <a:r>
              <a:rPr lang="en-US" dirty="0"/>
              <a:t>One important point is that simply posting a privacy policy on a website is usually </a:t>
            </a:r>
            <a:r>
              <a:rPr lang="en-US" b="1" dirty="0"/>
              <a:t>not enough</a:t>
            </a:r>
            <a:r>
              <a:rPr lang="en-US" dirty="0"/>
              <a:t>.</a:t>
            </a:r>
            <a:br>
              <a:rPr lang="en-US" dirty="0"/>
            </a:br>
            <a:endParaRPr lang="en-US" dirty="0"/>
          </a:p>
          <a:p>
            <a:r>
              <a:rPr lang="en-US" dirty="0"/>
              <a:t>PIPEDA expects organizations to communicate purposes in a way that individuals can reasonably understand. This means the explanation should be clear, accessible, and provided at the appropriate time.</a:t>
            </a:r>
          </a:p>
          <a:p>
            <a:br>
              <a:rPr lang="en-US" dirty="0"/>
            </a:br>
            <a:r>
              <a:rPr lang="en-US" dirty="0"/>
              <a:t>This principle also places responsibility on employees who collect information. They should be able to explain to individuals why the information is being collected and how it will be used.</a:t>
            </a:r>
          </a:p>
          <a:p>
            <a:r>
              <a:rPr lang="en-US" dirty="0"/>
              <a:t>Identifying purposes is critical because it creates transparency and sets boundaries on how organizations may use personal information.</a:t>
            </a:r>
            <a:br>
              <a:rPr lang="en-US" dirty="0"/>
            </a:br>
            <a:endParaRPr lang="en-US" dirty="0"/>
          </a:p>
          <a:p>
            <a:r>
              <a:rPr lang="en-US" dirty="0"/>
              <a:t>It also directly supports Principle 3, Consent- because meaningful consent is only possible if individuals actually understand what they are agreeing to.</a:t>
            </a:r>
          </a:p>
          <a:p>
            <a:endParaRPr lang="en-CA" dirty="0"/>
          </a:p>
        </p:txBody>
      </p:sp>
      <p:sp>
        <p:nvSpPr>
          <p:cNvPr id="4" name="Slide Number Placeholder 3"/>
          <p:cNvSpPr>
            <a:spLocks noGrp="1"/>
          </p:cNvSpPr>
          <p:nvPr>
            <p:ph type="sldNum" sz="quarter" idx="5"/>
          </p:nvPr>
        </p:nvSpPr>
        <p:spPr/>
        <p:txBody>
          <a:bodyPr/>
          <a:lstStyle/>
          <a:p>
            <a:fld id="{950F8534-D829-45C9-AB2D-585438AA0053}" type="slidenum">
              <a:rPr lang="en-CA" smtClean="0"/>
              <a:t>9</a:t>
            </a:fld>
            <a:endParaRPr lang="en-CA"/>
          </a:p>
        </p:txBody>
      </p:sp>
    </p:spTree>
    <p:extLst>
      <p:ext uri="{BB962C8B-B14F-4D97-AF65-F5344CB8AC3E}">
        <p14:creationId xmlns:p14="http://schemas.microsoft.com/office/powerpoint/2010/main" val="5628690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principle is Consent, which is considered one of the </a:t>
            </a:r>
            <a:r>
              <a:rPr lang="en-US" b="1" dirty="0"/>
              <a:t>core foundations </a:t>
            </a:r>
            <a:r>
              <a:rPr lang="en-US" dirty="0"/>
              <a:t>of PIPEDA.</a:t>
            </a:r>
            <a:br>
              <a:rPr lang="en-US" dirty="0"/>
            </a:br>
            <a:endParaRPr lang="en-US" dirty="0"/>
          </a:p>
          <a:p>
            <a:r>
              <a:rPr lang="en-US" dirty="0"/>
              <a:t>This principle states that organizations must obtain an individual’s knowledge and consent for the collection, use, or disclosure of personal information, unless a specific legal exception applies.</a:t>
            </a:r>
            <a:br>
              <a:rPr lang="en-US" dirty="0"/>
            </a:br>
            <a:endParaRPr lang="en-US" dirty="0"/>
          </a:p>
          <a:p>
            <a:r>
              <a:rPr lang="en-US" dirty="0"/>
              <a:t>In Canada, consent is the primary legal basis for handling personal information in the private sector.</a:t>
            </a:r>
            <a:br>
              <a:rPr lang="en-US" dirty="0"/>
            </a:br>
            <a:endParaRPr lang="en-US" dirty="0"/>
          </a:p>
          <a:p>
            <a:r>
              <a:rPr lang="en-US" dirty="0"/>
              <a:t>However, consent under PIPEDA must be informed consent.</a:t>
            </a:r>
            <a:br>
              <a:rPr lang="en-US" dirty="0"/>
            </a:br>
            <a:endParaRPr lang="en-US" dirty="0"/>
          </a:p>
          <a:p>
            <a:r>
              <a:rPr lang="en-US" dirty="0"/>
              <a:t>This means individuals must understand:</a:t>
            </a:r>
          </a:p>
          <a:p>
            <a:pPr marL="171450" indent="-171450">
              <a:buFont typeface="Arial" panose="020B0604020202020204" pitchFamily="34" charset="0"/>
              <a:buChar char="•"/>
            </a:pPr>
            <a:r>
              <a:rPr lang="en-US" dirty="0"/>
              <a:t>what information is being collected</a:t>
            </a:r>
          </a:p>
          <a:p>
            <a:pPr marL="171450" indent="-171450">
              <a:buFont typeface="Arial" panose="020B0604020202020204" pitchFamily="34" charset="0"/>
              <a:buChar char="•"/>
            </a:pPr>
            <a:r>
              <a:rPr lang="en-US" dirty="0"/>
              <a:t>why it is being collected</a:t>
            </a:r>
          </a:p>
          <a:p>
            <a:pPr marL="171450" indent="-171450">
              <a:buFont typeface="Arial" panose="020B0604020202020204" pitchFamily="34" charset="0"/>
              <a:buChar char="•"/>
            </a:pPr>
            <a:r>
              <a:rPr lang="en-US" dirty="0"/>
              <a:t>how it will be used</a:t>
            </a:r>
          </a:p>
          <a:p>
            <a:pPr marL="171450" indent="-171450">
              <a:buFont typeface="Arial" panose="020B0604020202020204" pitchFamily="34" charset="0"/>
              <a:buChar char="•"/>
            </a:pPr>
            <a:r>
              <a:rPr lang="en-US" dirty="0"/>
              <a:t>and the possible consequences of agreeing.</a:t>
            </a:r>
            <a:br>
              <a:rPr lang="en-US" dirty="0"/>
            </a:br>
            <a:endParaRPr lang="en-US" dirty="0"/>
          </a:p>
          <a:p>
            <a:r>
              <a:rPr lang="en-US" dirty="0"/>
              <a:t>This is why Principle 2 (Identifying Purposes) is so important. Without clearly identifying purposes, consent cannot truly be informed.</a:t>
            </a:r>
            <a:br>
              <a:rPr lang="en-US" dirty="0"/>
            </a:br>
            <a:endParaRPr lang="en-US" dirty="0"/>
          </a:p>
          <a:p>
            <a:r>
              <a:rPr lang="en-US" dirty="0"/>
              <a:t>PIPEDA also recognizes that not all personal information is equally sensitive.</a:t>
            </a:r>
            <a:br>
              <a:rPr lang="en-US" dirty="0"/>
            </a:br>
            <a:endParaRPr lang="en-US" dirty="0"/>
          </a:p>
          <a:p>
            <a:r>
              <a:rPr lang="en-US" dirty="0"/>
              <a:t>For less sensitive information, consent may sometimes be implied. For example, when a customer provides an address for product delivery, it is reasonable to assume consent for that purpose.</a:t>
            </a:r>
            <a:br>
              <a:rPr lang="en-US" dirty="0"/>
            </a:br>
            <a:endParaRPr lang="en-US" dirty="0"/>
          </a:p>
          <a:p>
            <a:r>
              <a:rPr lang="en-US" dirty="0"/>
              <a:t>However, for sensitive information, such as medical or financial data , organizations are expected to obtain express consent, usually through an </a:t>
            </a:r>
            <a:r>
              <a:rPr lang="en-US" b="1" dirty="0"/>
              <a:t>opt-in process </a:t>
            </a:r>
            <a:r>
              <a:rPr lang="en-US" dirty="0"/>
              <a:t>or written agreement.</a:t>
            </a:r>
            <a:br>
              <a:rPr lang="en-US" dirty="0"/>
            </a:br>
            <a:endParaRPr lang="en-US" dirty="0"/>
          </a:p>
          <a:p>
            <a:r>
              <a:rPr lang="en-US" dirty="0"/>
              <a:t>Another </a:t>
            </a:r>
            <a:r>
              <a:rPr lang="en-US" b="1" dirty="0"/>
              <a:t>important rule </a:t>
            </a:r>
            <a:r>
              <a:rPr lang="en-US" dirty="0"/>
              <a:t>is that organizations cannot require individuals to consent to unnecessary data collection.</a:t>
            </a:r>
            <a:br>
              <a:rPr lang="en-US" dirty="0"/>
            </a:br>
            <a:endParaRPr lang="en-US" dirty="0"/>
          </a:p>
          <a:p>
            <a:r>
              <a:rPr lang="en-US" dirty="0"/>
              <a:t>In other words, companies should only collect information that is necessary for legitimate business purposes.</a:t>
            </a:r>
            <a:br>
              <a:rPr lang="en-US" dirty="0"/>
            </a:br>
            <a:endParaRPr lang="en-US" dirty="0"/>
          </a:p>
          <a:p>
            <a:r>
              <a:rPr lang="en-US" dirty="0"/>
              <a:t>PIPEDA also gives individuals the right to withdraw consent at any time. However, organizations must explain the consequences of withdrawing consent.</a:t>
            </a:r>
            <a:br>
              <a:rPr lang="en-US" dirty="0"/>
            </a:br>
            <a:endParaRPr lang="en-US" dirty="0"/>
          </a:p>
          <a:p>
            <a:r>
              <a:rPr lang="en-US" dirty="0"/>
              <a:t>For example, if a customer withdraws consent for the use of information necessary to provide a service, the organization may no longer be able to provide that service.</a:t>
            </a:r>
            <a:br>
              <a:rPr lang="en-US" dirty="0"/>
            </a:br>
            <a:endParaRPr lang="en-US" dirty="0"/>
          </a:p>
          <a:p>
            <a:r>
              <a:rPr lang="en-US" dirty="0"/>
              <a:t>Overall, this principle emphasizes individual control over personal information and reinforces the importance of transparency and trust between organizations and consumers.</a:t>
            </a:r>
          </a:p>
          <a:p>
            <a:endParaRPr lang="en-CA" dirty="0"/>
          </a:p>
        </p:txBody>
      </p:sp>
      <p:sp>
        <p:nvSpPr>
          <p:cNvPr id="4" name="Slide Number Placeholder 3"/>
          <p:cNvSpPr>
            <a:spLocks noGrp="1"/>
          </p:cNvSpPr>
          <p:nvPr>
            <p:ph type="sldNum" sz="quarter" idx="5"/>
          </p:nvPr>
        </p:nvSpPr>
        <p:spPr/>
        <p:txBody>
          <a:bodyPr/>
          <a:lstStyle/>
          <a:p>
            <a:fld id="{950F8534-D829-45C9-AB2D-585438AA0053}" type="slidenum">
              <a:rPr lang="en-CA" smtClean="0"/>
              <a:t>10</a:t>
            </a:fld>
            <a:endParaRPr lang="en-CA"/>
          </a:p>
        </p:txBody>
      </p:sp>
    </p:spTree>
    <p:extLst>
      <p:ext uri="{BB962C8B-B14F-4D97-AF65-F5344CB8AC3E}">
        <p14:creationId xmlns:p14="http://schemas.microsoft.com/office/powerpoint/2010/main" val="27345596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move into Principle 4, which is called Limiting Collection.</a:t>
            </a:r>
            <a:br>
              <a:rPr lang="en-US" dirty="0"/>
            </a:br>
            <a:endParaRPr lang="en-US" dirty="0"/>
          </a:p>
          <a:p>
            <a:r>
              <a:rPr lang="en-US" dirty="0"/>
              <a:t>This principle says that organizations can only collect personal information that is necessary for the purposes they identified earlier under Principle 2.</a:t>
            </a:r>
          </a:p>
          <a:p>
            <a:endParaRPr lang="en-US" dirty="0"/>
          </a:p>
          <a:p>
            <a:r>
              <a:rPr lang="en-US" dirty="0"/>
              <a:t>In simple terms, companies cannot collect extra information “just in case” they may want it later. The information collected must directly relate to a legitimate business purpose.</a:t>
            </a:r>
            <a:br>
              <a:rPr lang="en-US" dirty="0"/>
            </a:br>
            <a:endParaRPr lang="en-US" dirty="0"/>
          </a:p>
          <a:p>
            <a:r>
              <a:rPr lang="en-US" dirty="0"/>
              <a:t>For example, if a business only needs an email address to send updates to a customer, it should not also request unrelated sensitive information like medical history or a social insurance number.</a:t>
            </a:r>
          </a:p>
          <a:p>
            <a:endParaRPr lang="en-US" dirty="0"/>
          </a:p>
          <a:p>
            <a:r>
              <a:rPr lang="en-US" dirty="0"/>
              <a:t>The principle also says that information must be collected by fair and lawful means.</a:t>
            </a:r>
            <a:br>
              <a:rPr lang="en-US" dirty="0"/>
            </a:br>
            <a:endParaRPr lang="en-US" dirty="0"/>
          </a:p>
          <a:p>
            <a:r>
              <a:rPr lang="en-US" dirty="0"/>
              <a:t>This means organizations cannot use deception, misleading tactics, or hidden methods to gather personal information.</a:t>
            </a:r>
          </a:p>
          <a:p>
            <a:r>
              <a:rPr lang="en-US" dirty="0"/>
              <a:t>What’s important here is how this principle connects back to Principle 2- Identifying Purposes.</a:t>
            </a:r>
            <a:br>
              <a:rPr lang="en-US" dirty="0"/>
            </a:br>
            <a:endParaRPr lang="en-US" dirty="0"/>
          </a:p>
          <a:p>
            <a:r>
              <a:rPr lang="en-US" dirty="0"/>
              <a:t>The purposes identified earlier act as guard rails. They determine what information an organization is allowed to collect and prevent unnecessary data collection.</a:t>
            </a:r>
            <a:br>
              <a:rPr lang="en-US" dirty="0"/>
            </a:br>
            <a:endParaRPr lang="en-US" dirty="0"/>
          </a:p>
          <a:p>
            <a:r>
              <a:rPr lang="en-US" dirty="0"/>
              <a:t>Overall, Principle 4 is about data minimization, collecting only what is truly needed and nothing more.</a:t>
            </a:r>
          </a:p>
          <a:p>
            <a:endParaRPr lang="en-CA" dirty="0"/>
          </a:p>
        </p:txBody>
      </p:sp>
      <p:sp>
        <p:nvSpPr>
          <p:cNvPr id="4" name="Slide Number Placeholder 3"/>
          <p:cNvSpPr>
            <a:spLocks noGrp="1"/>
          </p:cNvSpPr>
          <p:nvPr>
            <p:ph type="sldNum" sz="quarter" idx="5"/>
          </p:nvPr>
        </p:nvSpPr>
        <p:spPr/>
        <p:txBody>
          <a:bodyPr/>
          <a:lstStyle/>
          <a:p>
            <a:fld id="{950F8534-D829-45C9-AB2D-585438AA0053}" type="slidenum">
              <a:rPr lang="en-CA" smtClean="0"/>
              <a:t>11</a:t>
            </a:fld>
            <a:endParaRPr lang="en-CA"/>
          </a:p>
        </p:txBody>
      </p:sp>
    </p:spTree>
    <p:extLst>
      <p:ext uri="{BB962C8B-B14F-4D97-AF65-F5344CB8AC3E}">
        <p14:creationId xmlns:p14="http://schemas.microsoft.com/office/powerpoint/2010/main" val="8274522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5 is called Limiting Use, Disclosure, and Retention.</a:t>
            </a:r>
            <a:br>
              <a:rPr lang="en-US" dirty="0"/>
            </a:br>
            <a:endParaRPr lang="en-US" dirty="0"/>
          </a:p>
          <a:p>
            <a:r>
              <a:rPr lang="en-US" dirty="0"/>
              <a:t>This principle says that organizations may only use or disclose personal information for the purposes that were originally identified to the individual.</a:t>
            </a:r>
            <a:br>
              <a:rPr lang="en-US" dirty="0"/>
            </a:br>
            <a:endParaRPr lang="en-US" dirty="0"/>
          </a:p>
          <a:p>
            <a:r>
              <a:rPr lang="en-US" dirty="0"/>
              <a:t>If the organization later wants to use the information for a completely different purpose, it must inform the individual of the new purpose and obtain new consent.</a:t>
            </a:r>
            <a:br>
              <a:rPr lang="en-US" dirty="0"/>
            </a:br>
            <a:endParaRPr lang="en-US" dirty="0"/>
          </a:p>
          <a:p>
            <a:r>
              <a:rPr lang="en-US" dirty="0"/>
              <a:t>So again, this principle ties directly back to Principles 2 and 3:</a:t>
            </a:r>
            <a:br>
              <a:rPr lang="en-US" dirty="0"/>
            </a:br>
            <a:endParaRPr lang="en-US" dirty="0"/>
          </a:p>
          <a:p>
            <a:pPr marL="171450" indent="-171450">
              <a:buFont typeface="Arial" panose="020B0604020202020204" pitchFamily="34" charset="0"/>
              <a:buChar char="•"/>
            </a:pPr>
            <a:r>
              <a:rPr lang="en-US" dirty="0"/>
              <a:t>Principle 2 identifies the purposes,</a:t>
            </a:r>
          </a:p>
          <a:p>
            <a:pPr marL="171450" indent="-171450">
              <a:buFont typeface="Arial" panose="020B0604020202020204" pitchFamily="34" charset="0"/>
              <a:buChar char="•"/>
            </a:pPr>
            <a:r>
              <a:rPr lang="en-US" dirty="0"/>
              <a:t>Principle 3 obtains consent,</a:t>
            </a:r>
          </a:p>
          <a:p>
            <a:pPr marL="171450" indent="-171450">
              <a:buFont typeface="Arial" panose="020B0604020202020204" pitchFamily="34" charset="0"/>
              <a:buChar char="•"/>
            </a:pPr>
            <a:r>
              <a:rPr lang="en-US" dirty="0"/>
              <a:t>and Principle 5 limits how the information can be used afterward.</a:t>
            </a:r>
          </a:p>
          <a:p>
            <a:pPr marL="0" indent="0">
              <a:buFont typeface="Arial" panose="020B0604020202020204" pitchFamily="34" charset="0"/>
              <a:buNone/>
            </a:pPr>
            <a:endParaRPr lang="en-US" dirty="0"/>
          </a:p>
          <a:p>
            <a:r>
              <a:rPr lang="en-US" dirty="0"/>
              <a:t>This principle also introduces the concept of retention limits.</a:t>
            </a:r>
            <a:br>
              <a:rPr lang="en-US" dirty="0"/>
            </a:br>
            <a:endParaRPr lang="en-US" dirty="0"/>
          </a:p>
          <a:p>
            <a:r>
              <a:rPr lang="en-US" dirty="0"/>
              <a:t>Organizations should only keep personal information for as long as necessary to fulfill the identified purposes.</a:t>
            </a:r>
            <a:br>
              <a:rPr lang="en-US" dirty="0"/>
            </a:br>
            <a:endParaRPr lang="en-US" dirty="0"/>
          </a:p>
          <a:p>
            <a:r>
              <a:rPr lang="en-US" dirty="0"/>
              <a:t>Once the information is no longer needed, it should either be securely destroyed or properly anonymized.</a:t>
            </a:r>
            <a:br>
              <a:rPr lang="en-US" dirty="0"/>
            </a:br>
            <a:endParaRPr lang="en-US" dirty="0"/>
          </a:p>
          <a:p>
            <a:r>
              <a:rPr lang="en-US" dirty="0"/>
              <a:t>This is important because keeping unnecessary personal information increases privacy and security risks, especially in the event of a data breach.</a:t>
            </a:r>
            <a:br>
              <a:rPr lang="en-US" dirty="0"/>
            </a:br>
            <a:endParaRPr lang="en-US" dirty="0"/>
          </a:p>
          <a:p>
            <a:r>
              <a:rPr lang="en-US" dirty="0"/>
              <a:t>Although PIPEDA does not explicitly require a written retention policy, organizations should have one in practice so they know:</a:t>
            </a:r>
          </a:p>
          <a:p>
            <a:pPr marL="171450" indent="-171450">
              <a:buFont typeface="Arial" panose="020B0604020202020204" pitchFamily="34" charset="0"/>
              <a:buChar char="•"/>
            </a:pPr>
            <a:r>
              <a:rPr lang="en-US" dirty="0"/>
              <a:t>why information was collected,</a:t>
            </a:r>
          </a:p>
          <a:p>
            <a:pPr marL="171450" indent="-171450">
              <a:buFont typeface="Arial" panose="020B0604020202020204" pitchFamily="34" charset="0"/>
              <a:buChar char="•"/>
            </a:pPr>
            <a:r>
              <a:rPr lang="en-US" dirty="0"/>
              <a:t>how long it should be kept,</a:t>
            </a:r>
          </a:p>
          <a:p>
            <a:pPr marL="171450" indent="-171450">
              <a:buFont typeface="Arial" panose="020B0604020202020204" pitchFamily="34" charset="0"/>
              <a:buChar char="•"/>
            </a:pPr>
            <a:r>
              <a:rPr lang="en-US" dirty="0"/>
              <a:t>and when it should be disposed of securely.</a:t>
            </a:r>
            <a:br>
              <a:rPr lang="en-US" dirty="0"/>
            </a:br>
            <a:endParaRPr lang="en-US" dirty="0"/>
          </a:p>
          <a:p>
            <a:r>
              <a:rPr lang="en-US" dirty="0"/>
              <a:t>Overall, Principle 5 ensures organizations do not misuse personal information or keep it indefinitely without justification.</a:t>
            </a:r>
          </a:p>
          <a:p>
            <a:endParaRPr lang="en-CA" dirty="0"/>
          </a:p>
        </p:txBody>
      </p:sp>
      <p:sp>
        <p:nvSpPr>
          <p:cNvPr id="4" name="Slide Number Placeholder 3"/>
          <p:cNvSpPr>
            <a:spLocks noGrp="1"/>
          </p:cNvSpPr>
          <p:nvPr>
            <p:ph type="sldNum" sz="quarter" idx="5"/>
          </p:nvPr>
        </p:nvSpPr>
        <p:spPr/>
        <p:txBody>
          <a:bodyPr/>
          <a:lstStyle/>
          <a:p>
            <a:fld id="{950F8534-D829-45C9-AB2D-585438AA0053}" type="slidenum">
              <a:rPr lang="en-CA" smtClean="0"/>
              <a:t>12</a:t>
            </a:fld>
            <a:endParaRPr lang="en-CA"/>
          </a:p>
        </p:txBody>
      </p:sp>
    </p:spTree>
    <p:extLst>
      <p:ext uri="{BB962C8B-B14F-4D97-AF65-F5344CB8AC3E}">
        <p14:creationId xmlns:p14="http://schemas.microsoft.com/office/powerpoint/2010/main" val="932862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6 is the Accuracy Principle.</a:t>
            </a:r>
            <a:br>
              <a:rPr lang="en-US" dirty="0"/>
            </a:br>
            <a:endParaRPr lang="en-US" dirty="0"/>
          </a:p>
          <a:p>
            <a:r>
              <a:rPr lang="en-US" dirty="0"/>
              <a:t>This principle says that personal information must be as accurate, complete, and up to date as necessary for the purposes for which it is being used.</a:t>
            </a:r>
            <a:br>
              <a:rPr lang="en-US" dirty="0"/>
            </a:br>
            <a:endParaRPr lang="en-US" dirty="0"/>
          </a:p>
          <a:p>
            <a:r>
              <a:rPr lang="en-US" dirty="0"/>
              <a:t>Again, the key phrase is “necessary for the purposes”.</a:t>
            </a:r>
            <a:br>
              <a:rPr lang="en-US" dirty="0"/>
            </a:br>
            <a:endParaRPr lang="en-US" dirty="0"/>
          </a:p>
          <a:p>
            <a:r>
              <a:rPr lang="en-US" dirty="0"/>
              <a:t>This principle becomes especially important when organizations use information to make decisions about individuals.</a:t>
            </a:r>
            <a:br>
              <a:rPr lang="en-US" dirty="0"/>
            </a:br>
            <a:endParaRPr lang="en-US" dirty="0"/>
          </a:p>
          <a:p>
            <a:r>
              <a:rPr lang="en-US" dirty="0"/>
              <a:t>For example, inaccurate information in a credit report, employment file, or banking application could negatively affect someone’s opportunities or reputation.</a:t>
            </a:r>
            <a:br>
              <a:rPr lang="en-US" dirty="0"/>
            </a:br>
            <a:endParaRPr lang="en-US" dirty="0"/>
          </a:p>
          <a:p>
            <a:r>
              <a:rPr lang="en-US" dirty="0"/>
              <a:t>Organizations therefore have a responsibility to make sure the information they rely on is sufficiently accurate for the decision being made.</a:t>
            </a:r>
            <a:br>
              <a:rPr lang="en-US" dirty="0"/>
            </a:br>
            <a:endParaRPr lang="en-US" dirty="0"/>
          </a:p>
          <a:p>
            <a:r>
              <a:rPr lang="en-US" dirty="0"/>
              <a:t>However, PIPEDA does not require organizations to constantly update every piece of information they hold.</a:t>
            </a:r>
          </a:p>
          <a:p>
            <a:endParaRPr lang="en-US" dirty="0"/>
          </a:p>
          <a:p>
            <a:r>
              <a:rPr lang="en-US" dirty="0"/>
              <a:t>The level of accuracy required depends on:</a:t>
            </a:r>
          </a:p>
          <a:p>
            <a:pPr marL="171450" indent="-171450">
              <a:buFont typeface="Arial" panose="020B0604020202020204" pitchFamily="34" charset="0"/>
              <a:buChar char="•"/>
            </a:pPr>
            <a:r>
              <a:rPr lang="en-US" dirty="0"/>
              <a:t>how the information is being used,</a:t>
            </a:r>
          </a:p>
          <a:p>
            <a:pPr marL="171450" indent="-171450">
              <a:buFont typeface="Arial" panose="020B0604020202020204" pitchFamily="34" charset="0"/>
              <a:buChar char="•"/>
            </a:pPr>
            <a:r>
              <a:rPr lang="en-US" dirty="0"/>
              <a:t>and the potential consequences for the individual.</a:t>
            </a:r>
          </a:p>
          <a:p>
            <a:pPr marL="171450" indent="-171450">
              <a:buFont typeface="Arial" panose="020B0604020202020204" pitchFamily="34" charset="0"/>
              <a:buChar char="•"/>
            </a:pPr>
            <a:endParaRPr lang="en-US" dirty="0"/>
          </a:p>
          <a:p>
            <a:r>
              <a:rPr lang="en-US" dirty="0"/>
              <a:t>Overall, Principle 6 helps ensure fairness by reducing the risk of decisions being made using outdated or incorrect personal information.</a:t>
            </a:r>
          </a:p>
          <a:p>
            <a:endParaRPr lang="en-CA" dirty="0"/>
          </a:p>
        </p:txBody>
      </p:sp>
      <p:sp>
        <p:nvSpPr>
          <p:cNvPr id="4" name="Slide Number Placeholder 3"/>
          <p:cNvSpPr>
            <a:spLocks noGrp="1"/>
          </p:cNvSpPr>
          <p:nvPr>
            <p:ph type="sldNum" sz="quarter" idx="5"/>
          </p:nvPr>
        </p:nvSpPr>
        <p:spPr/>
        <p:txBody>
          <a:bodyPr/>
          <a:lstStyle/>
          <a:p>
            <a:fld id="{950F8534-D829-45C9-AB2D-585438AA0053}" type="slidenum">
              <a:rPr lang="en-CA" smtClean="0"/>
              <a:t>13</a:t>
            </a:fld>
            <a:endParaRPr lang="en-CA"/>
          </a:p>
        </p:txBody>
      </p:sp>
    </p:spTree>
    <p:extLst>
      <p:ext uri="{BB962C8B-B14F-4D97-AF65-F5344CB8AC3E}">
        <p14:creationId xmlns:p14="http://schemas.microsoft.com/office/powerpoint/2010/main" val="8519905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7 is called Safeguards, and it is one of the most important principles under PIPEDA.</a:t>
            </a:r>
            <a:br>
              <a:rPr lang="en-US" dirty="0"/>
            </a:br>
            <a:endParaRPr lang="en-US" dirty="0"/>
          </a:p>
          <a:p>
            <a:r>
              <a:rPr lang="en-US" dirty="0"/>
              <a:t>This principle says that personal information must be protected using security safeguards appropriate to the sensitivity of the information.</a:t>
            </a:r>
          </a:p>
          <a:p>
            <a:endParaRPr lang="en-US" dirty="0"/>
          </a:p>
          <a:p>
            <a:r>
              <a:rPr lang="en-US" dirty="0"/>
              <a:t>PIPEDA specifically says organizations must protect personal information against threats such as:</a:t>
            </a:r>
          </a:p>
          <a:p>
            <a:pPr marL="171450" indent="-171450">
              <a:buFont typeface="Arial" panose="020B0604020202020204" pitchFamily="34" charset="0"/>
              <a:buChar char="•"/>
            </a:pPr>
            <a:r>
              <a:rPr lang="en-US" dirty="0"/>
              <a:t>loss,</a:t>
            </a:r>
          </a:p>
          <a:p>
            <a:pPr marL="171450" indent="-171450">
              <a:buFont typeface="Arial" panose="020B0604020202020204" pitchFamily="34" charset="0"/>
              <a:buChar char="•"/>
            </a:pPr>
            <a:r>
              <a:rPr lang="en-US" dirty="0"/>
              <a:t>theft,</a:t>
            </a:r>
          </a:p>
          <a:p>
            <a:pPr marL="171450" indent="-171450">
              <a:buFont typeface="Arial" panose="020B0604020202020204" pitchFamily="34" charset="0"/>
              <a:buChar char="•"/>
            </a:pPr>
            <a:r>
              <a:rPr lang="en-US" dirty="0"/>
              <a:t>unauthorized access,</a:t>
            </a:r>
          </a:p>
          <a:p>
            <a:pPr marL="171450" indent="-171450">
              <a:buFont typeface="Arial" panose="020B0604020202020204" pitchFamily="34" charset="0"/>
              <a:buChar char="•"/>
            </a:pPr>
            <a:r>
              <a:rPr lang="en-US" dirty="0"/>
              <a:t>unauthorized disclosure,</a:t>
            </a:r>
          </a:p>
          <a:p>
            <a:pPr marL="171450" indent="-171450">
              <a:buFont typeface="Arial" panose="020B0604020202020204" pitchFamily="34" charset="0"/>
              <a:buChar char="•"/>
            </a:pPr>
            <a:r>
              <a:rPr lang="en-US" dirty="0"/>
              <a:t>copying,</a:t>
            </a:r>
          </a:p>
          <a:p>
            <a:pPr marL="171450" indent="-171450">
              <a:buFont typeface="Arial" panose="020B0604020202020204" pitchFamily="34" charset="0"/>
              <a:buChar char="•"/>
            </a:pPr>
            <a:r>
              <a:rPr lang="en-US" dirty="0"/>
              <a:t>use,</a:t>
            </a:r>
          </a:p>
          <a:p>
            <a:pPr marL="171450" indent="-171450">
              <a:buFont typeface="Arial" panose="020B0604020202020204" pitchFamily="34" charset="0"/>
              <a:buChar char="•"/>
            </a:pPr>
            <a:r>
              <a:rPr lang="en-US" dirty="0"/>
              <a:t>or modification.</a:t>
            </a:r>
            <a:br>
              <a:rPr lang="en-US" dirty="0"/>
            </a:br>
            <a:endParaRPr lang="en-US" dirty="0"/>
          </a:p>
          <a:p>
            <a:r>
              <a:rPr lang="en-US" dirty="0"/>
              <a:t>Importantly, this protection applies regardless of the format of the information- whether it is stored digitally, on paper, or in cloud systems.</a:t>
            </a:r>
            <a:br>
              <a:rPr lang="en-US" dirty="0"/>
            </a:br>
            <a:endParaRPr lang="en-US" dirty="0"/>
          </a:p>
          <a:p>
            <a:r>
              <a:rPr lang="en-US" dirty="0"/>
              <a:t>One of the most important aspects of this principle is that it is principles-based rather than overly prescriptive.</a:t>
            </a:r>
            <a:br>
              <a:rPr lang="en-US" dirty="0"/>
            </a:br>
            <a:endParaRPr lang="en-US" dirty="0"/>
          </a:p>
          <a:p>
            <a:r>
              <a:rPr lang="en-US" dirty="0"/>
              <a:t>PIPEDA does not provide a fixed checklist of exact security measures organizations must use.</a:t>
            </a:r>
            <a:br>
              <a:rPr lang="en-US" dirty="0"/>
            </a:br>
            <a:endParaRPr lang="en-US" dirty="0"/>
          </a:p>
          <a:p>
            <a:r>
              <a:rPr lang="en-US" dirty="0"/>
              <a:t>Instead, organizations are expected to implement safeguards that are reasonable and appropriate based on:</a:t>
            </a:r>
          </a:p>
          <a:p>
            <a:pPr marL="171450" indent="-171450">
              <a:buFont typeface="Arial" panose="020B0604020202020204" pitchFamily="34" charset="0"/>
              <a:buChar char="•"/>
            </a:pPr>
            <a:r>
              <a:rPr lang="en-US" dirty="0"/>
              <a:t>the sensitivity of the information,</a:t>
            </a:r>
          </a:p>
          <a:p>
            <a:pPr marL="171450" indent="-171450">
              <a:buFont typeface="Arial" panose="020B0604020202020204" pitchFamily="34" charset="0"/>
              <a:buChar char="•"/>
            </a:pPr>
            <a:r>
              <a:rPr lang="en-US" dirty="0"/>
              <a:t>the level of risk,</a:t>
            </a:r>
          </a:p>
          <a:p>
            <a:pPr marL="171450" indent="-171450">
              <a:buFont typeface="Arial" panose="020B0604020202020204" pitchFamily="34" charset="0"/>
              <a:buChar char="•"/>
            </a:pPr>
            <a:r>
              <a:rPr lang="en-US" dirty="0"/>
              <a:t>and current technological standards.</a:t>
            </a:r>
            <a:br>
              <a:rPr lang="en-US" dirty="0"/>
            </a:br>
            <a:endParaRPr lang="en-US" dirty="0"/>
          </a:p>
          <a:p>
            <a:r>
              <a:rPr lang="en-US" dirty="0"/>
              <a:t>For example, highly sensitive information like health or financial records would require much stronger protections than a basic email subscription list.</a:t>
            </a:r>
            <a:br>
              <a:rPr lang="en-US" dirty="0"/>
            </a:br>
            <a:endParaRPr lang="en-US" dirty="0"/>
          </a:p>
          <a:p>
            <a:r>
              <a:rPr lang="en-US" dirty="0"/>
              <a:t>Another key point is that what counts as “reasonable safeguards” changes over time as technology evolves.</a:t>
            </a:r>
            <a:br>
              <a:rPr lang="en-US" dirty="0"/>
            </a:br>
            <a:endParaRPr lang="en-US" dirty="0"/>
          </a:p>
          <a:p>
            <a:r>
              <a:rPr lang="en-US" dirty="0"/>
              <a:t>The security expectations organizations face today are much higher than when PIPEDA first became law in 2001.</a:t>
            </a:r>
            <a:br>
              <a:rPr lang="en-US" dirty="0"/>
            </a:br>
            <a:endParaRPr lang="en-US" dirty="0"/>
          </a:p>
          <a:p>
            <a:r>
              <a:rPr lang="en-US" dirty="0"/>
              <a:t>At the same time, PIPEDA does not require perfection.</a:t>
            </a:r>
            <a:br>
              <a:rPr lang="en-US" dirty="0"/>
            </a:br>
            <a:endParaRPr lang="en-US" dirty="0"/>
          </a:p>
          <a:p>
            <a:r>
              <a:rPr lang="en-US" dirty="0"/>
              <a:t>Organizations are expected to take reasonable steps to protect personal information, but they are not expected to eliminate every possible risk.</a:t>
            </a:r>
            <a:br>
              <a:rPr lang="en-US" dirty="0"/>
            </a:br>
            <a:endParaRPr lang="en-US" dirty="0"/>
          </a:p>
          <a:p>
            <a:r>
              <a:rPr lang="en-US" dirty="0"/>
              <a:t>Overall, Principle 7 emphasizes that protecting personal information is an ongoing responsibility that must evolve alongside technology and emerging threats.</a:t>
            </a:r>
          </a:p>
          <a:p>
            <a:endParaRPr lang="en-CA" dirty="0"/>
          </a:p>
        </p:txBody>
      </p:sp>
      <p:sp>
        <p:nvSpPr>
          <p:cNvPr id="4" name="Slide Number Placeholder 3"/>
          <p:cNvSpPr>
            <a:spLocks noGrp="1"/>
          </p:cNvSpPr>
          <p:nvPr>
            <p:ph type="sldNum" sz="quarter" idx="5"/>
          </p:nvPr>
        </p:nvSpPr>
        <p:spPr/>
        <p:txBody>
          <a:bodyPr/>
          <a:lstStyle/>
          <a:p>
            <a:fld id="{950F8534-D829-45C9-AB2D-585438AA0053}" type="slidenum">
              <a:rPr lang="en-CA" smtClean="0"/>
              <a:t>14</a:t>
            </a:fld>
            <a:endParaRPr lang="en-CA"/>
          </a:p>
        </p:txBody>
      </p:sp>
    </p:spTree>
    <p:extLst>
      <p:ext uri="{BB962C8B-B14F-4D97-AF65-F5344CB8AC3E}">
        <p14:creationId xmlns:p14="http://schemas.microsoft.com/office/powerpoint/2010/main" val="20874763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8 is called Openness.</a:t>
            </a:r>
            <a:br>
              <a:rPr lang="en-US" dirty="0"/>
            </a:br>
            <a:endParaRPr lang="en-US" dirty="0"/>
          </a:p>
          <a:p>
            <a:r>
              <a:rPr lang="en-US" dirty="0"/>
              <a:t>This principle says that organizations must make information about their privacy policies and practices readily available to individuals.</a:t>
            </a:r>
            <a:br>
              <a:rPr lang="en-US" dirty="0"/>
            </a:br>
            <a:endParaRPr lang="en-US" dirty="0"/>
          </a:p>
          <a:p>
            <a:r>
              <a:rPr lang="en-US" dirty="0"/>
              <a:t>In simple terms, organizations need to be transparent about how they manage personal information.</a:t>
            </a:r>
            <a:br>
              <a:rPr lang="en-US" dirty="0"/>
            </a:br>
            <a:endParaRPr lang="en-US" dirty="0"/>
          </a:p>
          <a:p>
            <a:r>
              <a:rPr lang="en-US" dirty="0"/>
              <a:t>This is where privacy policies become important.</a:t>
            </a:r>
            <a:br>
              <a:rPr lang="en-US" dirty="0"/>
            </a:br>
            <a:endParaRPr lang="en-US" dirty="0"/>
          </a:p>
          <a:p>
            <a:r>
              <a:rPr lang="en-US" dirty="0"/>
              <a:t>Unlike Principle 2, where organizations identify purposes in order to obtain consent, Principle 8 is more about openness and transparency overall.</a:t>
            </a:r>
            <a:br>
              <a:rPr lang="en-US" dirty="0"/>
            </a:br>
            <a:endParaRPr lang="en-US" dirty="0"/>
          </a:p>
          <a:p>
            <a:r>
              <a:rPr lang="en-US" dirty="0"/>
              <a:t>A privacy policy should clearly explain:</a:t>
            </a:r>
          </a:p>
          <a:p>
            <a:pPr marL="171450" indent="-171450">
              <a:buFont typeface="Arial" panose="020B0604020202020204" pitchFamily="34" charset="0"/>
              <a:buChar char="•"/>
            </a:pPr>
            <a:r>
              <a:rPr lang="en-US" dirty="0"/>
              <a:t>what personal information the organization collects,</a:t>
            </a:r>
          </a:p>
          <a:p>
            <a:pPr marL="171450" indent="-171450">
              <a:buFont typeface="Arial" panose="020B0604020202020204" pitchFamily="34" charset="0"/>
              <a:buChar char="•"/>
            </a:pPr>
            <a:r>
              <a:rPr lang="en-US" dirty="0"/>
              <a:t>how it is used,</a:t>
            </a:r>
          </a:p>
          <a:p>
            <a:pPr marL="171450" indent="-171450">
              <a:buFont typeface="Arial" panose="020B0604020202020204" pitchFamily="34" charset="0"/>
              <a:buChar char="•"/>
            </a:pPr>
            <a:r>
              <a:rPr lang="en-US" dirty="0"/>
              <a:t>how it may be disclosed,</a:t>
            </a:r>
          </a:p>
          <a:p>
            <a:pPr marL="171450" indent="-171450">
              <a:buFont typeface="Arial" panose="020B0604020202020204" pitchFamily="34" charset="0"/>
              <a:buChar char="•"/>
            </a:pPr>
            <a:r>
              <a:rPr lang="en-US" dirty="0"/>
              <a:t>and what privacy rights individuals have.</a:t>
            </a:r>
            <a:br>
              <a:rPr lang="en-US" dirty="0"/>
            </a:br>
            <a:endParaRPr lang="en-US" dirty="0"/>
          </a:p>
          <a:p>
            <a:r>
              <a:rPr lang="en-US" dirty="0"/>
              <a:t>The organization must also provide contact information for the Privacy Officer or the person responsible for privacy compliance.</a:t>
            </a:r>
            <a:br>
              <a:rPr lang="en-US" dirty="0"/>
            </a:br>
            <a:endParaRPr lang="en-US" dirty="0"/>
          </a:p>
          <a:p>
            <a:r>
              <a:rPr lang="en-US" dirty="0"/>
              <a:t>Individuals should also be told how they can exercise their access rights under PIPEDA.</a:t>
            </a:r>
            <a:br>
              <a:rPr lang="en-US" dirty="0"/>
            </a:br>
            <a:endParaRPr lang="en-US" dirty="0"/>
          </a:p>
          <a:p>
            <a:r>
              <a:rPr lang="en-US" dirty="0"/>
              <a:t>Another important requirement is that organizations should explain whether personal information is shared with affiliates, related companies, or third-party organizations.</a:t>
            </a:r>
            <a:br>
              <a:rPr lang="en-US" dirty="0"/>
            </a:br>
            <a:endParaRPr lang="en-US" dirty="0"/>
          </a:p>
          <a:p>
            <a:r>
              <a:rPr lang="en-US" dirty="0"/>
              <a:t>Today, organizations are also increasingly expected to explain whether personal information may be stored, transferred, or accessed outside of Canada.</a:t>
            </a:r>
            <a:br>
              <a:rPr lang="en-US" dirty="0"/>
            </a:br>
            <a:endParaRPr lang="en-US" dirty="0"/>
          </a:p>
          <a:p>
            <a:r>
              <a:rPr lang="en-US" dirty="0"/>
              <a:t>Although this is not explicitly written in PIPEDA itself, the Privacy Commissioner of Canada considers it a best practice, and provinces like Alberta and Quebec actually make these disclosures mandatory.</a:t>
            </a:r>
          </a:p>
          <a:p>
            <a:r>
              <a:rPr lang="en-US" dirty="0"/>
              <a:t>Overall, Principle 8 is about building trust through transparency and making privacy practices understandable and accessible to the public.</a:t>
            </a:r>
          </a:p>
          <a:p>
            <a:endParaRPr lang="en-CA" dirty="0"/>
          </a:p>
        </p:txBody>
      </p:sp>
      <p:sp>
        <p:nvSpPr>
          <p:cNvPr id="4" name="Slide Number Placeholder 3"/>
          <p:cNvSpPr>
            <a:spLocks noGrp="1"/>
          </p:cNvSpPr>
          <p:nvPr>
            <p:ph type="sldNum" sz="quarter" idx="5"/>
          </p:nvPr>
        </p:nvSpPr>
        <p:spPr/>
        <p:txBody>
          <a:bodyPr/>
          <a:lstStyle/>
          <a:p>
            <a:fld id="{950F8534-D829-45C9-AB2D-585438AA0053}" type="slidenum">
              <a:rPr lang="en-CA" smtClean="0"/>
              <a:t>15</a:t>
            </a:fld>
            <a:endParaRPr lang="en-CA"/>
          </a:p>
        </p:txBody>
      </p:sp>
    </p:spTree>
    <p:extLst>
      <p:ext uri="{BB962C8B-B14F-4D97-AF65-F5344CB8AC3E}">
        <p14:creationId xmlns:p14="http://schemas.microsoft.com/office/powerpoint/2010/main" val="14332255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9 is called Individual Access.</a:t>
            </a:r>
            <a:br>
              <a:rPr lang="en-US" dirty="0"/>
            </a:br>
            <a:endParaRPr lang="en-US" dirty="0"/>
          </a:p>
          <a:p>
            <a:r>
              <a:rPr lang="en-US" dirty="0"/>
              <a:t>This principle gives individuals the right to know whether an organization has their personal information, how it is being used, and whether it has been disclosed to others.</a:t>
            </a:r>
            <a:br>
              <a:rPr lang="en-US" dirty="0"/>
            </a:br>
            <a:endParaRPr lang="en-US" dirty="0"/>
          </a:p>
          <a:p>
            <a:r>
              <a:rPr lang="en-US" dirty="0"/>
              <a:t>Upon request, organizations must provide individuals with access to their personal information.</a:t>
            </a:r>
            <a:br>
              <a:rPr lang="en-US" dirty="0"/>
            </a:br>
            <a:endParaRPr lang="en-US" dirty="0"/>
          </a:p>
          <a:p>
            <a:r>
              <a:rPr lang="en-US" dirty="0"/>
              <a:t>This is often called a data subject access right.</a:t>
            </a:r>
          </a:p>
          <a:p>
            <a:endParaRPr lang="en-US" dirty="0"/>
          </a:p>
          <a:p>
            <a:r>
              <a:rPr lang="en-US" dirty="0"/>
              <a:t>An important part of this principle is that individuals also have the right to challenge the accuracy or completeness of the information and request corrections if necessary.</a:t>
            </a:r>
            <a:br>
              <a:rPr lang="en-US" dirty="0"/>
            </a:br>
            <a:endParaRPr lang="en-US" dirty="0"/>
          </a:p>
          <a:p>
            <a:r>
              <a:rPr lang="en-US" dirty="0"/>
              <a:t>For example, if a company has outdated or incorrect information about a customer, the individual has the right to ask for that information to be corrected.</a:t>
            </a:r>
            <a:br>
              <a:rPr lang="en-US" dirty="0"/>
            </a:br>
            <a:endParaRPr lang="en-US" dirty="0"/>
          </a:p>
          <a:p>
            <a:r>
              <a:rPr lang="en-US" dirty="0"/>
              <a:t>Organizations are generally required to respond to these requests within 30 days.</a:t>
            </a:r>
          </a:p>
          <a:p>
            <a:r>
              <a:rPr lang="en-US" dirty="0"/>
              <a:t>They must also explain to the individual:</a:t>
            </a:r>
          </a:p>
          <a:p>
            <a:pPr marL="171450" indent="-171450">
              <a:buFont typeface="Arial" panose="020B0604020202020204" pitchFamily="34" charset="0"/>
              <a:buChar char="•"/>
            </a:pPr>
            <a:r>
              <a:rPr lang="en-US" dirty="0"/>
              <a:t>how the information has been used,</a:t>
            </a:r>
          </a:p>
          <a:p>
            <a:pPr marL="171450" indent="-171450">
              <a:buFont typeface="Arial" panose="020B0604020202020204" pitchFamily="34" charset="0"/>
              <a:buChar char="•"/>
            </a:pPr>
            <a:r>
              <a:rPr lang="en-US" dirty="0"/>
              <a:t>and to whom the information may have been disclosed.</a:t>
            </a:r>
            <a:br>
              <a:rPr lang="en-US" dirty="0"/>
            </a:br>
            <a:endParaRPr lang="en-US" dirty="0"/>
          </a:p>
          <a:p>
            <a:r>
              <a:rPr lang="en-US" dirty="0"/>
              <a:t>This means organizations need to maintain records about their handling of personal information.</a:t>
            </a:r>
            <a:br>
              <a:rPr lang="en-US" dirty="0"/>
            </a:br>
            <a:endParaRPr lang="en-US" dirty="0"/>
          </a:p>
          <a:p>
            <a:r>
              <a:rPr lang="en-US" dirty="0"/>
              <a:t>Another important point is that access should usually be provided at little or no cost to the individual.</a:t>
            </a:r>
            <a:br>
              <a:rPr lang="en-US" dirty="0"/>
            </a:br>
            <a:endParaRPr lang="en-US" dirty="0"/>
          </a:p>
          <a:p>
            <a:r>
              <a:rPr lang="en-US" dirty="0"/>
              <a:t>The information also needs to be understandable. If technical terms or abbreviations are used, organizations may need to explain them clearly.</a:t>
            </a:r>
            <a:br>
              <a:rPr lang="en-US" dirty="0"/>
            </a:br>
            <a:endParaRPr lang="en-US" dirty="0"/>
          </a:p>
          <a:p>
            <a:r>
              <a:rPr lang="en-US" dirty="0"/>
              <a:t>However, there are some limits to this access right.</a:t>
            </a:r>
          </a:p>
          <a:p>
            <a:r>
              <a:rPr lang="en-US" dirty="0"/>
              <a:t>Organizations may refuse access in certain situations involving:</a:t>
            </a:r>
          </a:p>
          <a:p>
            <a:pPr marL="171450" indent="-171450">
              <a:buFont typeface="Arial" panose="020B0604020202020204" pitchFamily="34" charset="0"/>
              <a:buChar char="•"/>
            </a:pPr>
            <a:r>
              <a:rPr lang="en-US" dirty="0"/>
              <a:t>confidential business information,</a:t>
            </a:r>
          </a:p>
          <a:p>
            <a:pPr marL="171450" indent="-171450">
              <a:buFont typeface="Arial" panose="020B0604020202020204" pitchFamily="34" charset="0"/>
              <a:buChar char="•"/>
            </a:pPr>
            <a:r>
              <a:rPr lang="en-US" dirty="0"/>
              <a:t>another person’s personal information,</a:t>
            </a:r>
          </a:p>
          <a:p>
            <a:pPr marL="171450" indent="-171450">
              <a:buFont typeface="Arial" panose="020B0604020202020204" pitchFamily="34" charset="0"/>
              <a:buChar char="•"/>
            </a:pPr>
            <a:r>
              <a:rPr lang="en-US" dirty="0"/>
              <a:t>or information protected by legal privilege.</a:t>
            </a:r>
            <a:br>
              <a:rPr lang="en-US" dirty="0"/>
            </a:br>
            <a:endParaRPr lang="en-US" dirty="0"/>
          </a:p>
          <a:p>
            <a:r>
              <a:rPr lang="en-US" dirty="0"/>
              <a:t>Overall, Principle 9 reinforces the idea that individuals should have visibility and control over information held about them.</a:t>
            </a:r>
          </a:p>
          <a:p>
            <a:endParaRPr lang="en-CA" dirty="0"/>
          </a:p>
        </p:txBody>
      </p:sp>
      <p:sp>
        <p:nvSpPr>
          <p:cNvPr id="4" name="Slide Number Placeholder 3"/>
          <p:cNvSpPr>
            <a:spLocks noGrp="1"/>
          </p:cNvSpPr>
          <p:nvPr>
            <p:ph type="sldNum" sz="quarter" idx="5"/>
          </p:nvPr>
        </p:nvSpPr>
        <p:spPr/>
        <p:txBody>
          <a:bodyPr/>
          <a:lstStyle/>
          <a:p>
            <a:fld id="{950F8534-D829-45C9-AB2D-585438AA0053}" type="slidenum">
              <a:rPr lang="en-CA" smtClean="0"/>
              <a:t>16</a:t>
            </a:fld>
            <a:endParaRPr lang="en-CA"/>
          </a:p>
        </p:txBody>
      </p:sp>
    </p:spTree>
    <p:extLst>
      <p:ext uri="{BB962C8B-B14F-4D97-AF65-F5344CB8AC3E}">
        <p14:creationId xmlns:p14="http://schemas.microsoft.com/office/powerpoint/2010/main" val="37722408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principle of PIPEDA is Principle 10, called Challenging Compliance.</a:t>
            </a:r>
            <a:br>
              <a:rPr lang="en-US" dirty="0"/>
            </a:br>
            <a:endParaRPr lang="en-US" dirty="0"/>
          </a:p>
          <a:p>
            <a:r>
              <a:rPr lang="en-US" dirty="0"/>
              <a:t>This principle says that individuals must be able to challenge an organization’s compliance with the PIPEDA principles.</a:t>
            </a:r>
            <a:br>
              <a:rPr lang="en-US" dirty="0"/>
            </a:br>
            <a:endParaRPr lang="en-US" dirty="0"/>
          </a:p>
          <a:p>
            <a:r>
              <a:rPr lang="en-US" dirty="0"/>
              <a:t>Complaints or concerns should first be directed to the person responsible for privacy compliance within the organization- usually the Privacy Officer identified under Principle 1, Accountability.</a:t>
            </a:r>
            <a:br>
              <a:rPr lang="en-US" dirty="0"/>
            </a:br>
            <a:endParaRPr lang="en-US" dirty="0"/>
          </a:p>
          <a:p>
            <a:r>
              <a:rPr lang="en-US" dirty="0"/>
              <a:t>This principle is really based on common sense.</a:t>
            </a:r>
          </a:p>
          <a:p>
            <a:r>
              <a:rPr lang="en-US" dirty="0"/>
              <a:t>Organizations should have an opportunity to hear concerns, investigate complaints, and attempt to resolve problems before the matter escalates to regulators or legal proceedings.</a:t>
            </a:r>
          </a:p>
          <a:p>
            <a:endParaRPr lang="en-US" dirty="0"/>
          </a:p>
          <a:p>
            <a:r>
              <a:rPr lang="en-US" dirty="0"/>
              <a:t>As a result, organizations are expected to have clear procedures in place for:</a:t>
            </a:r>
          </a:p>
          <a:p>
            <a:pPr marL="171450" indent="-171450">
              <a:buFont typeface="Arial" panose="020B0604020202020204" pitchFamily="34" charset="0"/>
              <a:buChar char="•"/>
            </a:pPr>
            <a:r>
              <a:rPr lang="en-US" dirty="0"/>
              <a:t>receiving complaints,</a:t>
            </a:r>
          </a:p>
          <a:p>
            <a:pPr marL="171450" indent="-171450">
              <a:buFont typeface="Arial" panose="020B0604020202020204" pitchFamily="34" charset="0"/>
              <a:buChar char="•"/>
            </a:pPr>
            <a:r>
              <a:rPr lang="en-US" dirty="0"/>
              <a:t>investigating concerns,</a:t>
            </a:r>
          </a:p>
          <a:p>
            <a:pPr marL="171450" indent="-171450">
              <a:buFont typeface="Arial" panose="020B0604020202020204" pitchFamily="34" charset="0"/>
              <a:buChar char="•"/>
            </a:pPr>
            <a:r>
              <a:rPr lang="en-US" dirty="0"/>
              <a:t>responding appropriately,</a:t>
            </a:r>
          </a:p>
          <a:p>
            <a:pPr marL="171450" indent="-171450">
              <a:buFont typeface="Arial" panose="020B0604020202020204" pitchFamily="34" charset="0"/>
              <a:buChar char="•"/>
            </a:pPr>
            <a:r>
              <a:rPr lang="en-US" dirty="0"/>
              <a:t>and correcting any issues that are identified.</a:t>
            </a:r>
            <a:br>
              <a:rPr lang="en-US" dirty="0"/>
            </a:br>
            <a:endParaRPr lang="en-US" dirty="0"/>
          </a:p>
          <a:p>
            <a:r>
              <a:rPr lang="en-US" dirty="0"/>
              <a:t>Organizations must also inform individuals that they have the right to escalate complaints to the appropriate privacy regulator if they are not satisfied with the organization’s response.</a:t>
            </a:r>
            <a:br>
              <a:rPr lang="en-US" dirty="0"/>
            </a:br>
            <a:endParaRPr lang="en-US" dirty="0"/>
          </a:p>
          <a:p>
            <a:r>
              <a:rPr lang="en-US" dirty="0"/>
              <a:t>This principle effectively closes the loop on the entire PIPEDA framework.</a:t>
            </a:r>
            <a:br>
              <a:rPr lang="en-US" dirty="0"/>
            </a:br>
            <a:endParaRPr lang="en-US" dirty="0"/>
          </a:p>
          <a:p>
            <a:r>
              <a:rPr lang="en-US" dirty="0"/>
              <a:t>It reinforces accountability and ensures organizations remain responsible not only for collecting and protecting personal information, but also for responding when individuals believe their privacy rights have not been respected.</a:t>
            </a:r>
          </a:p>
          <a:p>
            <a:r>
              <a:rPr lang="en-US" dirty="0"/>
              <a:t>Overall, Principle 10 emphasizes trust, accountability, and access to remedies within the Canadian privacy system.</a:t>
            </a:r>
          </a:p>
          <a:p>
            <a:endParaRPr lang="en-CA" dirty="0"/>
          </a:p>
        </p:txBody>
      </p:sp>
      <p:sp>
        <p:nvSpPr>
          <p:cNvPr id="4" name="Slide Number Placeholder 3"/>
          <p:cNvSpPr>
            <a:spLocks noGrp="1"/>
          </p:cNvSpPr>
          <p:nvPr>
            <p:ph type="sldNum" sz="quarter" idx="5"/>
          </p:nvPr>
        </p:nvSpPr>
        <p:spPr/>
        <p:txBody>
          <a:bodyPr/>
          <a:lstStyle/>
          <a:p>
            <a:fld id="{950F8534-D829-45C9-AB2D-585438AA0053}" type="slidenum">
              <a:rPr lang="en-CA" smtClean="0"/>
              <a:t>17</a:t>
            </a:fld>
            <a:endParaRPr lang="en-CA"/>
          </a:p>
        </p:txBody>
      </p:sp>
    </p:spTree>
    <p:extLst>
      <p:ext uri="{BB962C8B-B14F-4D97-AF65-F5344CB8AC3E}">
        <p14:creationId xmlns:p14="http://schemas.microsoft.com/office/powerpoint/2010/main" val="1540958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3C5B7C7-17F8-4517-9D8D-2F9D35D62FCB}" type="datetimeFigureOut">
              <a:rPr lang="en-CA" smtClean="0"/>
              <a:t>2026-05-28</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rIns="45720"/>
          <a:lstStyle/>
          <a:p>
            <a:fld id="{CE0D73F4-EABC-4CDB-8B6E-6F55759216D1}" type="slidenum">
              <a:rPr lang="en-CA" smtClean="0"/>
              <a:t>‹#›</a:t>
            </a:fld>
            <a:endParaRPr lang="en-CA"/>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260808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C5B7C7-17F8-4517-9D8D-2F9D35D62FCB}" type="datetimeFigureOut">
              <a:rPr lang="en-CA" smtClean="0"/>
              <a:t>2026-05-28</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E0D73F4-EABC-4CDB-8B6E-6F55759216D1}" type="slidenum">
              <a:rPr lang="en-CA" smtClean="0"/>
              <a:t>‹#›</a:t>
            </a:fld>
            <a:endParaRPr lang="en-CA"/>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456479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5B7C7-17F8-4517-9D8D-2F9D35D62FCB}" type="datetimeFigureOut">
              <a:rPr lang="en-CA" smtClean="0"/>
              <a:t>2026-05-28</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E0D73F4-EABC-4CDB-8B6E-6F55759216D1}" type="slidenum">
              <a:rPr lang="en-CA" smtClean="0"/>
              <a:t>‹#›</a:t>
            </a:fld>
            <a:endParaRPr lang="en-CA"/>
          </a:p>
        </p:txBody>
      </p:sp>
    </p:spTree>
    <p:extLst>
      <p:ext uri="{BB962C8B-B14F-4D97-AF65-F5344CB8AC3E}">
        <p14:creationId xmlns:p14="http://schemas.microsoft.com/office/powerpoint/2010/main" val="3577568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3C5B7C7-17F8-4517-9D8D-2F9D35D62FCB}" type="datetimeFigureOut">
              <a:rPr lang="en-CA" smtClean="0"/>
              <a:t>2026-05-28</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E0D73F4-EABC-4CDB-8B6E-6F55759216D1}" type="slidenum">
              <a:rPr lang="en-CA" smtClean="0"/>
              <a:t>‹#›</a:t>
            </a:fld>
            <a:endParaRPr lang="en-CA"/>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58446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3C5B7C7-17F8-4517-9D8D-2F9D35D62FCB}" type="datetimeFigureOut">
              <a:rPr lang="en-CA" smtClean="0"/>
              <a:t>2026-05-28</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CE0D73F4-EABC-4CDB-8B6E-6F55759216D1}" type="slidenum">
              <a:rPr lang="en-CA" smtClean="0"/>
              <a:t>‹#›</a:t>
            </a:fld>
            <a:endParaRPr lang="en-CA"/>
          </a:p>
        </p:txBody>
      </p:sp>
    </p:spTree>
    <p:extLst>
      <p:ext uri="{BB962C8B-B14F-4D97-AF65-F5344CB8AC3E}">
        <p14:creationId xmlns:p14="http://schemas.microsoft.com/office/powerpoint/2010/main" val="3508561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3C5B7C7-17F8-4517-9D8D-2F9D35D62FCB}" type="datetimeFigureOut">
              <a:rPr lang="en-CA" smtClean="0"/>
              <a:t>2026-05-28</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CE0D73F4-EABC-4CDB-8B6E-6F55759216D1}" type="slidenum">
              <a:rPr lang="en-CA" smtClean="0"/>
              <a:t>‹#›</a:t>
            </a:fld>
            <a:endParaRPr lang="en-CA"/>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882429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B3C5B7C7-17F8-4517-9D8D-2F9D35D62FCB}" type="datetimeFigureOut">
              <a:rPr lang="en-CA" smtClean="0"/>
              <a:t>2026-05-28</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CE0D73F4-EABC-4CDB-8B6E-6F55759216D1}" type="slidenum">
              <a:rPr lang="en-CA" smtClean="0"/>
              <a:t>‹#›</a:t>
            </a:fld>
            <a:endParaRPr lang="en-CA"/>
          </a:p>
        </p:txBody>
      </p:sp>
    </p:spTree>
    <p:extLst>
      <p:ext uri="{BB962C8B-B14F-4D97-AF65-F5344CB8AC3E}">
        <p14:creationId xmlns:p14="http://schemas.microsoft.com/office/powerpoint/2010/main" val="2268057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C5B7C7-17F8-4517-9D8D-2F9D35D62FCB}" type="datetimeFigureOut">
              <a:rPr lang="en-CA" smtClean="0"/>
              <a:t>2026-05-28</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E0D73F4-EABC-4CDB-8B6E-6F55759216D1}" type="slidenum">
              <a:rPr lang="en-CA" smtClean="0"/>
              <a:t>‹#›</a:t>
            </a:fld>
            <a:endParaRPr lang="en-CA"/>
          </a:p>
        </p:txBody>
      </p:sp>
    </p:spTree>
    <p:extLst>
      <p:ext uri="{BB962C8B-B14F-4D97-AF65-F5344CB8AC3E}">
        <p14:creationId xmlns:p14="http://schemas.microsoft.com/office/powerpoint/2010/main" val="3074309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C5B7C7-17F8-4517-9D8D-2F9D35D62FCB}" type="datetimeFigureOut">
              <a:rPr lang="en-CA" smtClean="0"/>
              <a:t>2026-05-28</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E0D73F4-EABC-4CDB-8B6E-6F55759216D1}" type="slidenum">
              <a:rPr lang="en-CA" smtClean="0"/>
              <a:t>‹#›</a:t>
            </a:fld>
            <a:endParaRPr lang="en-CA"/>
          </a:p>
        </p:txBody>
      </p:sp>
    </p:spTree>
    <p:extLst>
      <p:ext uri="{BB962C8B-B14F-4D97-AF65-F5344CB8AC3E}">
        <p14:creationId xmlns:p14="http://schemas.microsoft.com/office/powerpoint/2010/main" val="2516500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C5B7C7-17F8-4517-9D8D-2F9D35D62FCB}" type="datetimeFigureOut">
              <a:rPr lang="en-CA" smtClean="0"/>
              <a:t>2026-05-28</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E0D73F4-EABC-4CDB-8B6E-6F55759216D1}" type="slidenum">
              <a:rPr lang="en-CA" smtClean="0"/>
              <a:t>‹#›</a:t>
            </a:fld>
            <a:endParaRPr lang="en-CA"/>
          </a:p>
        </p:txBody>
      </p:sp>
    </p:spTree>
    <p:extLst>
      <p:ext uri="{BB962C8B-B14F-4D97-AF65-F5344CB8AC3E}">
        <p14:creationId xmlns:p14="http://schemas.microsoft.com/office/powerpoint/2010/main" val="873208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C5B7C7-17F8-4517-9D8D-2F9D35D62FCB}" type="datetimeFigureOut">
              <a:rPr lang="en-CA" smtClean="0"/>
              <a:t>2026-05-28</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E0D73F4-EABC-4CDB-8B6E-6F55759216D1}" type="slidenum">
              <a:rPr lang="en-CA" smtClean="0"/>
              <a:t>‹#›</a:t>
            </a:fld>
            <a:endParaRPr lang="en-CA"/>
          </a:p>
        </p:txBody>
      </p:sp>
    </p:spTree>
    <p:extLst>
      <p:ext uri="{BB962C8B-B14F-4D97-AF65-F5344CB8AC3E}">
        <p14:creationId xmlns:p14="http://schemas.microsoft.com/office/powerpoint/2010/main" val="1136955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5/28/2026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Tree>
    <p:extLst>
      <p:ext uri="{BB962C8B-B14F-4D97-AF65-F5344CB8AC3E}">
        <p14:creationId xmlns:p14="http://schemas.microsoft.com/office/powerpoint/2010/main" val="233621675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2A7D5-643F-C64D-D916-A55759646997}"/>
              </a:ext>
            </a:extLst>
          </p:cNvPr>
          <p:cNvSpPr>
            <a:spLocks noGrp="1"/>
          </p:cNvSpPr>
          <p:nvPr>
            <p:ph type="ctrTitle"/>
          </p:nvPr>
        </p:nvSpPr>
        <p:spPr/>
        <p:txBody>
          <a:bodyPr>
            <a:normAutofit/>
          </a:bodyPr>
          <a:lstStyle/>
          <a:p>
            <a:r>
              <a:rPr lang="en-CA" dirty="0"/>
              <a:t>Data Governance</a:t>
            </a:r>
          </a:p>
        </p:txBody>
      </p:sp>
      <p:sp>
        <p:nvSpPr>
          <p:cNvPr id="3" name="Subtitle 2">
            <a:extLst>
              <a:ext uri="{FF2B5EF4-FFF2-40B4-BE49-F238E27FC236}">
                <a16:creationId xmlns:a16="http://schemas.microsoft.com/office/drawing/2014/main" id="{21DD1C85-9D6F-A8FD-1197-BA1D9A078F5E}"/>
              </a:ext>
            </a:extLst>
          </p:cNvPr>
          <p:cNvSpPr>
            <a:spLocks noGrp="1"/>
          </p:cNvSpPr>
          <p:nvPr>
            <p:ph type="subTitle" idx="1"/>
          </p:nvPr>
        </p:nvSpPr>
        <p:spPr/>
        <p:txBody>
          <a:bodyPr/>
          <a:lstStyle/>
          <a:p>
            <a:r>
              <a:rPr lang="en-CA" dirty="0"/>
              <a:t>Group 3</a:t>
            </a:r>
          </a:p>
        </p:txBody>
      </p:sp>
    </p:spTree>
    <p:extLst>
      <p:ext uri="{BB962C8B-B14F-4D97-AF65-F5344CB8AC3E}">
        <p14:creationId xmlns:p14="http://schemas.microsoft.com/office/powerpoint/2010/main" val="1390555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3AE92C-9AF0-774A-710D-3B8911DF1CAE}"/>
              </a:ext>
            </a:extLst>
          </p:cNvPr>
          <p:cNvSpPr>
            <a:spLocks noGrp="1"/>
          </p:cNvSpPr>
          <p:nvPr>
            <p:ph type="title"/>
          </p:nvPr>
        </p:nvSpPr>
        <p:spPr/>
        <p:txBody>
          <a:bodyPr/>
          <a:lstStyle/>
          <a:p>
            <a:pPr algn="l"/>
            <a:r>
              <a:rPr lang="en-CA" dirty="0"/>
              <a:t>Roadmap</a:t>
            </a:r>
          </a:p>
        </p:txBody>
      </p:sp>
      <p:graphicFrame>
        <p:nvGraphicFramePr>
          <p:cNvPr id="11" name="Content Placeholder 8">
            <a:extLst>
              <a:ext uri="{FF2B5EF4-FFF2-40B4-BE49-F238E27FC236}">
                <a16:creationId xmlns:a16="http://schemas.microsoft.com/office/drawing/2014/main" id="{33B63F9E-D017-B342-DC3E-3F37C5D27CD4}"/>
              </a:ext>
            </a:extLst>
          </p:cNvPr>
          <p:cNvGraphicFramePr>
            <a:graphicFrameLocks noGrp="1"/>
          </p:cNvGraphicFramePr>
          <p:nvPr>
            <p:ph idx="1"/>
            <p:extLst>
              <p:ext uri="{D42A27DB-BD31-4B8C-83A1-F6EECF244321}">
                <p14:modId xmlns:p14="http://schemas.microsoft.com/office/powerpoint/2010/main" val="1809958593"/>
              </p:ext>
            </p:extLst>
          </p:nvPr>
        </p:nvGraphicFramePr>
        <p:xfrm>
          <a:off x="2773599" y="2052116"/>
          <a:ext cx="7796540" cy="39978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26416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8A8FA-36B6-4712-D612-99FE5AFAA282}"/>
              </a:ext>
            </a:extLst>
          </p:cNvPr>
          <p:cNvSpPr>
            <a:spLocks noGrp="1"/>
          </p:cNvSpPr>
          <p:nvPr>
            <p:ph type="ctrTitle"/>
          </p:nvPr>
        </p:nvSpPr>
        <p:spPr/>
        <p:txBody>
          <a:bodyPr/>
          <a:lstStyle/>
          <a:p>
            <a:r>
              <a:rPr lang="en-CA" dirty="0"/>
              <a:t>Introduction to PIPEDA</a:t>
            </a:r>
          </a:p>
        </p:txBody>
      </p:sp>
      <p:sp>
        <p:nvSpPr>
          <p:cNvPr id="4" name="Subtitle 3">
            <a:extLst>
              <a:ext uri="{FF2B5EF4-FFF2-40B4-BE49-F238E27FC236}">
                <a16:creationId xmlns:a16="http://schemas.microsoft.com/office/drawing/2014/main" id="{269CA1E6-C9F0-E133-2BC8-C58541DDEC3A}"/>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1037950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9F6C9-1E45-DD6F-5BA8-700F11D84DC8}"/>
              </a:ext>
            </a:extLst>
          </p:cNvPr>
          <p:cNvSpPr>
            <a:spLocks noGrp="1"/>
          </p:cNvSpPr>
          <p:nvPr>
            <p:ph type="title"/>
          </p:nvPr>
        </p:nvSpPr>
        <p:spPr/>
        <p:txBody>
          <a:bodyPr/>
          <a:lstStyle/>
          <a:p>
            <a:r>
              <a:rPr lang="en-CA" dirty="0"/>
              <a:t>Canada’s Privacy Law Landscape</a:t>
            </a:r>
          </a:p>
        </p:txBody>
      </p:sp>
      <p:sp>
        <p:nvSpPr>
          <p:cNvPr id="3" name="Content Placeholder 2">
            <a:extLst>
              <a:ext uri="{FF2B5EF4-FFF2-40B4-BE49-F238E27FC236}">
                <a16:creationId xmlns:a16="http://schemas.microsoft.com/office/drawing/2014/main" id="{517A043C-FF4C-3611-10E8-812AD235585D}"/>
              </a:ext>
            </a:extLst>
          </p:cNvPr>
          <p:cNvSpPr>
            <a:spLocks noGrp="1"/>
          </p:cNvSpPr>
          <p:nvPr>
            <p:ph idx="1"/>
          </p:nvPr>
        </p:nvSpPr>
        <p:spPr/>
        <p:txBody>
          <a:bodyPr/>
          <a:lstStyle/>
          <a:p>
            <a:r>
              <a:rPr lang="en-CA" dirty="0"/>
              <a:t>Canada has multiple overlapping privacy laws</a:t>
            </a:r>
          </a:p>
          <a:p>
            <a:r>
              <a:rPr lang="en-CA" dirty="0"/>
              <a:t>Federal and Provincial jurisdiction</a:t>
            </a:r>
          </a:p>
          <a:p>
            <a:r>
              <a:rPr lang="en-CA" dirty="0"/>
              <a:t>Public sector vs. private sector privacy laws</a:t>
            </a:r>
          </a:p>
          <a:p>
            <a:r>
              <a:rPr lang="en-CA" dirty="0"/>
              <a:t>“Mosaic” of privacy legislation</a:t>
            </a:r>
          </a:p>
        </p:txBody>
      </p:sp>
    </p:spTree>
    <p:extLst>
      <p:ext uri="{BB962C8B-B14F-4D97-AF65-F5344CB8AC3E}">
        <p14:creationId xmlns:p14="http://schemas.microsoft.com/office/powerpoint/2010/main" val="1742785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9B1C6-C158-CA49-3B25-974911D9C630}"/>
              </a:ext>
            </a:extLst>
          </p:cNvPr>
          <p:cNvSpPr>
            <a:spLocks noGrp="1"/>
          </p:cNvSpPr>
          <p:nvPr>
            <p:ph type="title"/>
          </p:nvPr>
        </p:nvSpPr>
        <p:spPr/>
        <p:txBody>
          <a:bodyPr/>
          <a:lstStyle/>
          <a:p>
            <a:r>
              <a:rPr lang="en-CA" dirty="0"/>
              <a:t>What is PIPEDA</a:t>
            </a:r>
          </a:p>
        </p:txBody>
      </p:sp>
      <p:sp>
        <p:nvSpPr>
          <p:cNvPr id="3" name="Content Placeholder 2">
            <a:extLst>
              <a:ext uri="{FF2B5EF4-FFF2-40B4-BE49-F238E27FC236}">
                <a16:creationId xmlns:a16="http://schemas.microsoft.com/office/drawing/2014/main" id="{12A71FED-9FEA-0194-3BD8-E7492EBBB8F7}"/>
              </a:ext>
            </a:extLst>
          </p:cNvPr>
          <p:cNvSpPr>
            <a:spLocks noGrp="1"/>
          </p:cNvSpPr>
          <p:nvPr>
            <p:ph idx="1"/>
          </p:nvPr>
        </p:nvSpPr>
        <p:spPr/>
        <p:txBody>
          <a:bodyPr/>
          <a:lstStyle/>
          <a:p>
            <a:r>
              <a:rPr lang="en-CA" dirty="0"/>
              <a:t>Federal private- sector privacy law</a:t>
            </a:r>
          </a:p>
          <a:p>
            <a:r>
              <a:rPr lang="en-CA" dirty="0"/>
              <a:t>Applies to commercial activities</a:t>
            </a:r>
          </a:p>
          <a:p>
            <a:r>
              <a:rPr lang="en-CA" dirty="0"/>
              <a:t>Based on CSA Model Code</a:t>
            </a:r>
          </a:p>
          <a:p>
            <a:r>
              <a:rPr lang="en-CA" dirty="0"/>
              <a:t>Came fully into force in 2004 </a:t>
            </a:r>
          </a:p>
        </p:txBody>
      </p:sp>
    </p:spTree>
    <p:extLst>
      <p:ext uri="{BB962C8B-B14F-4D97-AF65-F5344CB8AC3E}">
        <p14:creationId xmlns:p14="http://schemas.microsoft.com/office/powerpoint/2010/main" val="3198948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EA456-8756-4571-C98C-27C24B9A7322}"/>
              </a:ext>
            </a:extLst>
          </p:cNvPr>
          <p:cNvSpPr>
            <a:spLocks noGrp="1"/>
          </p:cNvSpPr>
          <p:nvPr>
            <p:ph type="title"/>
          </p:nvPr>
        </p:nvSpPr>
        <p:spPr/>
        <p:txBody>
          <a:bodyPr/>
          <a:lstStyle/>
          <a:p>
            <a:r>
              <a:rPr lang="en-CA" dirty="0"/>
              <a:t>Key Concepts Under PIPEDA</a:t>
            </a:r>
          </a:p>
        </p:txBody>
      </p:sp>
      <p:sp>
        <p:nvSpPr>
          <p:cNvPr id="3" name="Content Placeholder 2">
            <a:extLst>
              <a:ext uri="{FF2B5EF4-FFF2-40B4-BE49-F238E27FC236}">
                <a16:creationId xmlns:a16="http://schemas.microsoft.com/office/drawing/2014/main" id="{21337B74-9815-CE62-424C-E13EC3FFF0F3}"/>
              </a:ext>
            </a:extLst>
          </p:cNvPr>
          <p:cNvSpPr>
            <a:spLocks noGrp="1"/>
          </p:cNvSpPr>
          <p:nvPr>
            <p:ph idx="1"/>
          </p:nvPr>
        </p:nvSpPr>
        <p:spPr/>
        <p:txBody>
          <a:bodyPr/>
          <a:lstStyle/>
          <a:p>
            <a:r>
              <a:rPr lang="en-CA" dirty="0"/>
              <a:t>Commercial activity</a:t>
            </a:r>
          </a:p>
          <a:p>
            <a:r>
              <a:rPr lang="en-CA" dirty="0"/>
              <a:t>Personal information</a:t>
            </a:r>
          </a:p>
          <a:p>
            <a:r>
              <a:rPr lang="en-CA" dirty="0"/>
              <a:t>Reasonableness requirement</a:t>
            </a:r>
          </a:p>
          <a:p>
            <a:r>
              <a:rPr lang="en-CA" dirty="0"/>
              <a:t>Consent-based framework</a:t>
            </a:r>
          </a:p>
        </p:txBody>
      </p:sp>
    </p:spTree>
    <p:extLst>
      <p:ext uri="{BB962C8B-B14F-4D97-AF65-F5344CB8AC3E}">
        <p14:creationId xmlns:p14="http://schemas.microsoft.com/office/powerpoint/2010/main" val="1915540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AC4EE-4154-4481-003D-2E552C399A3C}"/>
              </a:ext>
            </a:extLst>
          </p:cNvPr>
          <p:cNvSpPr>
            <a:spLocks noGrp="1"/>
          </p:cNvSpPr>
          <p:nvPr>
            <p:ph type="title"/>
          </p:nvPr>
        </p:nvSpPr>
        <p:spPr/>
        <p:txBody>
          <a:bodyPr/>
          <a:lstStyle/>
          <a:p>
            <a:r>
              <a:rPr lang="en-CA" dirty="0"/>
              <a:t>10 Principles of PIPEDA</a:t>
            </a:r>
          </a:p>
        </p:txBody>
      </p:sp>
      <p:sp>
        <p:nvSpPr>
          <p:cNvPr id="4" name="Text Placeholder 3">
            <a:extLst>
              <a:ext uri="{FF2B5EF4-FFF2-40B4-BE49-F238E27FC236}">
                <a16:creationId xmlns:a16="http://schemas.microsoft.com/office/drawing/2014/main" id="{33A1FD9F-8753-7186-8A99-D6AAD80BDB1E}"/>
              </a:ext>
            </a:extLst>
          </p:cNvPr>
          <p:cNvSpPr>
            <a:spLocks noGrp="1"/>
          </p:cNvSpPr>
          <p:nvPr>
            <p:ph type="body" idx="1"/>
          </p:nvPr>
        </p:nvSpPr>
        <p:spPr/>
        <p:txBody>
          <a:bodyPr/>
          <a:lstStyle/>
          <a:p>
            <a:endParaRPr lang="en-CA"/>
          </a:p>
        </p:txBody>
      </p:sp>
      <p:sp>
        <p:nvSpPr>
          <p:cNvPr id="5" name="Content Placeholder 4">
            <a:extLst>
              <a:ext uri="{FF2B5EF4-FFF2-40B4-BE49-F238E27FC236}">
                <a16:creationId xmlns:a16="http://schemas.microsoft.com/office/drawing/2014/main" id="{EB359641-8455-8DF5-5874-C49B14766776}"/>
              </a:ext>
            </a:extLst>
          </p:cNvPr>
          <p:cNvSpPr>
            <a:spLocks noGrp="1"/>
          </p:cNvSpPr>
          <p:nvPr>
            <p:ph sz="half" idx="2"/>
          </p:nvPr>
        </p:nvSpPr>
        <p:spPr/>
        <p:txBody>
          <a:bodyPr/>
          <a:lstStyle/>
          <a:p>
            <a:r>
              <a:rPr lang="en-CA" dirty="0"/>
              <a:t>Accountability</a:t>
            </a:r>
          </a:p>
          <a:p>
            <a:r>
              <a:rPr lang="en-CA" dirty="0"/>
              <a:t>Identifying Purpose</a:t>
            </a:r>
          </a:p>
          <a:p>
            <a:r>
              <a:rPr lang="en-CA" dirty="0"/>
              <a:t>Consent</a:t>
            </a:r>
          </a:p>
          <a:p>
            <a:r>
              <a:rPr lang="en-CA" dirty="0"/>
              <a:t>Limiting Collection</a:t>
            </a:r>
          </a:p>
          <a:p>
            <a:r>
              <a:rPr lang="en-CA" dirty="0"/>
              <a:t>Limiting Use, Disclosure &amp; Retention</a:t>
            </a:r>
          </a:p>
        </p:txBody>
      </p:sp>
      <p:sp>
        <p:nvSpPr>
          <p:cNvPr id="6" name="Text Placeholder 5">
            <a:extLst>
              <a:ext uri="{FF2B5EF4-FFF2-40B4-BE49-F238E27FC236}">
                <a16:creationId xmlns:a16="http://schemas.microsoft.com/office/drawing/2014/main" id="{A203AB9F-74CC-14FF-E113-3FF26C5E3452}"/>
              </a:ext>
            </a:extLst>
          </p:cNvPr>
          <p:cNvSpPr>
            <a:spLocks noGrp="1"/>
          </p:cNvSpPr>
          <p:nvPr>
            <p:ph type="body" sz="quarter" idx="3"/>
          </p:nvPr>
        </p:nvSpPr>
        <p:spPr/>
        <p:txBody>
          <a:bodyPr/>
          <a:lstStyle/>
          <a:p>
            <a:endParaRPr lang="en-CA"/>
          </a:p>
        </p:txBody>
      </p:sp>
      <p:sp>
        <p:nvSpPr>
          <p:cNvPr id="7" name="Content Placeholder 6">
            <a:extLst>
              <a:ext uri="{FF2B5EF4-FFF2-40B4-BE49-F238E27FC236}">
                <a16:creationId xmlns:a16="http://schemas.microsoft.com/office/drawing/2014/main" id="{087DE625-7892-33E5-8E62-7A56E17AFF3C}"/>
              </a:ext>
            </a:extLst>
          </p:cNvPr>
          <p:cNvSpPr>
            <a:spLocks noGrp="1"/>
          </p:cNvSpPr>
          <p:nvPr>
            <p:ph sz="quarter" idx="4"/>
          </p:nvPr>
        </p:nvSpPr>
        <p:spPr/>
        <p:txBody>
          <a:bodyPr/>
          <a:lstStyle/>
          <a:p>
            <a:r>
              <a:rPr lang="en-CA" dirty="0"/>
              <a:t>Accuracy</a:t>
            </a:r>
          </a:p>
          <a:p>
            <a:r>
              <a:rPr lang="en-CA" dirty="0"/>
              <a:t>Safeguards</a:t>
            </a:r>
          </a:p>
          <a:p>
            <a:r>
              <a:rPr lang="en-CA" dirty="0"/>
              <a:t>Openness</a:t>
            </a:r>
          </a:p>
          <a:p>
            <a:r>
              <a:rPr lang="en-CA" dirty="0"/>
              <a:t>Individual Access</a:t>
            </a:r>
          </a:p>
          <a:p>
            <a:r>
              <a:rPr lang="en-CA" dirty="0"/>
              <a:t>Challenging Compliance</a:t>
            </a:r>
          </a:p>
        </p:txBody>
      </p:sp>
    </p:spTree>
    <p:extLst>
      <p:ext uri="{BB962C8B-B14F-4D97-AF65-F5344CB8AC3E}">
        <p14:creationId xmlns:p14="http://schemas.microsoft.com/office/powerpoint/2010/main" val="3054730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2AC9D01-1F9D-FB39-77E2-0EABAD6D5DCD}"/>
              </a:ext>
            </a:extLst>
          </p:cNvPr>
          <p:cNvSpPr>
            <a:spLocks noGrp="1"/>
          </p:cNvSpPr>
          <p:nvPr>
            <p:ph type="title"/>
          </p:nvPr>
        </p:nvSpPr>
        <p:spPr/>
        <p:txBody>
          <a:bodyPr/>
          <a:lstStyle/>
          <a:p>
            <a:pPr algn="l"/>
            <a:r>
              <a:rPr lang="en-CA" dirty="0"/>
              <a:t>Principle 1 - Accountability</a:t>
            </a:r>
          </a:p>
        </p:txBody>
      </p:sp>
      <p:sp>
        <p:nvSpPr>
          <p:cNvPr id="8" name="Content Placeholder 7">
            <a:extLst>
              <a:ext uri="{FF2B5EF4-FFF2-40B4-BE49-F238E27FC236}">
                <a16:creationId xmlns:a16="http://schemas.microsoft.com/office/drawing/2014/main" id="{ADFA51AD-D72C-298C-94CD-9E535F9B0B25}"/>
              </a:ext>
            </a:extLst>
          </p:cNvPr>
          <p:cNvSpPr>
            <a:spLocks noGrp="1"/>
          </p:cNvSpPr>
          <p:nvPr>
            <p:ph idx="1"/>
          </p:nvPr>
        </p:nvSpPr>
        <p:spPr/>
        <p:txBody>
          <a:bodyPr/>
          <a:lstStyle/>
          <a:p>
            <a:pPr marL="0" indent="0">
              <a:buNone/>
            </a:pPr>
            <a:br>
              <a:rPr lang="en-CA" dirty="0"/>
            </a:br>
            <a:r>
              <a:rPr lang="en-US" dirty="0"/>
              <a:t>An organization is responsible for personal information under its control. It must appoint someone to be accountable for its compliance with these fair information principle</a:t>
            </a:r>
            <a:endParaRPr lang="en-CA" dirty="0"/>
          </a:p>
          <a:p>
            <a:pPr marL="0" indent="0">
              <a:buNone/>
            </a:pPr>
            <a:endParaRPr lang="en-CA" dirty="0"/>
          </a:p>
        </p:txBody>
      </p:sp>
    </p:spTree>
    <p:extLst>
      <p:ext uri="{BB962C8B-B14F-4D97-AF65-F5344CB8AC3E}">
        <p14:creationId xmlns:p14="http://schemas.microsoft.com/office/powerpoint/2010/main" val="1178741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677F5-967B-2332-3C8B-9F70C6D4C7A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76F6842-683A-36A9-8F5C-58C97411D3A7}"/>
              </a:ext>
            </a:extLst>
          </p:cNvPr>
          <p:cNvSpPr>
            <a:spLocks noGrp="1"/>
          </p:cNvSpPr>
          <p:nvPr>
            <p:ph type="title"/>
          </p:nvPr>
        </p:nvSpPr>
        <p:spPr/>
        <p:txBody>
          <a:bodyPr/>
          <a:lstStyle/>
          <a:p>
            <a:pPr algn="l"/>
            <a:r>
              <a:rPr lang="en-CA" dirty="0"/>
              <a:t>Principle 2 - Identifying Purposes</a:t>
            </a:r>
          </a:p>
        </p:txBody>
      </p:sp>
      <p:sp>
        <p:nvSpPr>
          <p:cNvPr id="8" name="Content Placeholder 7">
            <a:extLst>
              <a:ext uri="{FF2B5EF4-FFF2-40B4-BE49-F238E27FC236}">
                <a16:creationId xmlns:a16="http://schemas.microsoft.com/office/drawing/2014/main" id="{46551DFC-949F-8134-675D-B3C8C5D58172}"/>
              </a:ext>
            </a:extLst>
          </p:cNvPr>
          <p:cNvSpPr>
            <a:spLocks noGrp="1"/>
          </p:cNvSpPr>
          <p:nvPr>
            <p:ph idx="1"/>
          </p:nvPr>
        </p:nvSpPr>
        <p:spPr/>
        <p:txBody>
          <a:bodyPr/>
          <a:lstStyle/>
          <a:p>
            <a:pPr marL="0" indent="0">
              <a:buNone/>
            </a:pPr>
            <a:r>
              <a:rPr lang="en-CA" dirty="0"/>
              <a:t>The purposes for which personal information is collected must be identified by the organisation at or before the time the information is collected</a:t>
            </a:r>
          </a:p>
        </p:txBody>
      </p:sp>
    </p:spTree>
    <p:extLst>
      <p:ext uri="{BB962C8B-B14F-4D97-AF65-F5344CB8AC3E}">
        <p14:creationId xmlns:p14="http://schemas.microsoft.com/office/powerpoint/2010/main" val="609313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E5D1E-3EB6-E1A8-D340-B24029AFC44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1F1E389-74F4-4283-A8B6-0E41AFF7B7A2}"/>
              </a:ext>
            </a:extLst>
          </p:cNvPr>
          <p:cNvSpPr>
            <a:spLocks noGrp="1"/>
          </p:cNvSpPr>
          <p:nvPr>
            <p:ph type="title"/>
          </p:nvPr>
        </p:nvSpPr>
        <p:spPr/>
        <p:txBody>
          <a:bodyPr/>
          <a:lstStyle/>
          <a:p>
            <a:pPr algn="l"/>
            <a:r>
              <a:rPr lang="en-CA" dirty="0"/>
              <a:t>Principle 3 - Consent</a:t>
            </a:r>
          </a:p>
        </p:txBody>
      </p:sp>
      <p:sp>
        <p:nvSpPr>
          <p:cNvPr id="8" name="Content Placeholder 7">
            <a:extLst>
              <a:ext uri="{FF2B5EF4-FFF2-40B4-BE49-F238E27FC236}">
                <a16:creationId xmlns:a16="http://schemas.microsoft.com/office/drawing/2014/main" id="{DB746DA1-E1C5-1895-14F8-FF9C5CC37A56}"/>
              </a:ext>
            </a:extLst>
          </p:cNvPr>
          <p:cNvSpPr>
            <a:spLocks noGrp="1"/>
          </p:cNvSpPr>
          <p:nvPr>
            <p:ph idx="1"/>
          </p:nvPr>
        </p:nvSpPr>
        <p:spPr/>
        <p:txBody>
          <a:bodyPr/>
          <a:lstStyle/>
          <a:p>
            <a:pPr marL="0" indent="0">
              <a:buNone/>
            </a:pPr>
            <a:r>
              <a:rPr lang="en-CA" dirty="0"/>
              <a:t>The knowledge and consent of the individual are required for the collection use or disclosure of person information, except where inappropriate</a:t>
            </a:r>
          </a:p>
        </p:txBody>
      </p:sp>
    </p:spTree>
    <p:extLst>
      <p:ext uri="{BB962C8B-B14F-4D97-AF65-F5344CB8AC3E}">
        <p14:creationId xmlns:p14="http://schemas.microsoft.com/office/powerpoint/2010/main" val="3075529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05BD8-3A9D-076B-3642-AA6B10ECAF9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67398D2-3968-594F-E0BC-02C215AEF38D}"/>
              </a:ext>
            </a:extLst>
          </p:cNvPr>
          <p:cNvSpPr>
            <a:spLocks noGrp="1"/>
          </p:cNvSpPr>
          <p:nvPr>
            <p:ph type="title"/>
          </p:nvPr>
        </p:nvSpPr>
        <p:spPr/>
        <p:txBody>
          <a:bodyPr/>
          <a:lstStyle/>
          <a:p>
            <a:pPr algn="l"/>
            <a:r>
              <a:rPr lang="en-CA" dirty="0"/>
              <a:t>Principle 4 - Limiting Collection</a:t>
            </a:r>
          </a:p>
        </p:txBody>
      </p:sp>
      <p:sp>
        <p:nvSpPr>
          <p:cNvPr id="8" name="Content Placeholder 7">
            <a:extLst>
              <a:ext uri="{FF2B5EF4-FFF2-40B4-BE49-F238E27FC236}">
                <a16:creationId xmlns:a16="http://schemas.microsoft.com/office/drawing/2014/main" id="{7BB38C81-8AEF-9481-23FF-0182C6CFD35D}"/>
              </a:ext>
            </a:extLst>
          </p:cNvPr>
          <p:cNvSpPr>
            <a:spLocks noGrp="1"/>
          </p:cNvSpPr>
          <p:nvPr>
            <p:ph idx="1"/>
          </p:nvPr>
        </p:nvSpPr>
        <p:spPr/>
        <p:txBody>
          <a:bodyPr/>
          <a:lstStyle/>
          <a:p>
            <a:pPr marL="0" indent="0">
              <a:buNone/>
            </a:pPr>
            <a:r>
              <a:rPr lang="en-US" dirty="0"/>
              <a:t>The collection of personal information must be limited to that which is needed for the purposes identified by the organization. Information must be collected by fair and lawful means.</a:t>
            </a:r>
            <a:endParaRPr lang="en-CA" dirty="0"/>
          </a:p>
        </p:txBody>
      </p:sp>
    </p:spTree>
    <p:extLst>
      <p:ext uri="{BB962C8B-B14F-4D97-AF65-F5344CB8AC3E}">
        <p14:creationId xmlns:p14="http://schemas.microsoft.com/office/powerpoint/2010/main" val="3172200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ADEB1-1E27-6F02-93CB-BAA92298BFC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A866D16-C669-7848-98A6-27EF55CBCBDA}"/>
              </a:ext>
            </a:extLst>
          </p:cNvPr>
          <p:cNvSpPr>
            <a:spLocks noGrp="1"/>
          </p:cNvSpPr>
          <p:nvPr>
            <p:ph type="title"/>
          </p:nvPr>
        </p:nvSpPr>
        <p:spPr/>
        <p:txBody>
          <a:bodyPr/>
          <a:lstStyle/>
          <a:p>
            <a:pPr algn="l"/>
            <a:r>
              <a:rPr lang="en-CA" dirty="0"/>
              <a:t>Principle 5 - Limiting Use, disclosure and retention</a:t>
            </a:r>
          </a:p>
        </p:txBody>
      </p:sp>
      <p:sp>
        <p:nvSpPr>
          <p:cNvPr id="8" name="Content Placeholder 7">
            <a:extLst>
              <a:ext uri="{FF2B5EF4-FFF2-40B4-BE49-F238E27FC236}">
                <a16:creationId xmlns:a16="http://schemas.microsoft.com/office/drawing/2014/main" id="{80B0631F-9B48-5B9B-3381-A46F30E8EDB6}"/>
              </a:ext>
            </a:extLst>
          </p:cNvPr>
          <p:cNvSpPr>
            <a:spLocks noGrp="1"/>
          </p:cNvSpPr>
          <p:nvPr>
            <p:ph idx="1"/>
          </p:nvPr>
        </p:nvSpPr>
        <p:spPr/>
        <p:txBody>
          <a:bodyPr/>
          <a:lstStyle/>
          <a:p>
            <a:pPr marL="0" indent="0">
              <a:buNone/>
            </a:pPr>
            <a:r>
              <a:rPr lang="en-US" dirty="0"/>
              <a:t>Unless the individual consents otherwise or it is required by law, personal information can only be used or disclosed for the purposes for which it was collected. Personal information must only be kept as long as required to serve those purposes.</a:t>
            </a:r>
            <a:endParaRPr lang="en-CA" dirty="0"/>
          </a:p>
        </p:txBody>
      </p:sp>
    </p:spTree>
    <p:extLst>
      <p:ext uri="{BB962C8B-B14F-4D97-AF65-F5344CB8AC3E}">
        <p14:creationId xmlns:p14="http://schemas.microsoft.com/office/powerpoint/2010/main" val="3406129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D02B6-E1B4-9016-5572-23AB2D44388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44BB9F1-04FF-72B8-E017-F4510F38A9F0}"/>
              </a:ext>
            </a:extLst>
          </p:cNvPr>
          <p:cNvSpPr>
            <a:spLocks noGrp="1"/>
          </p:cNvSpPr>
          <p:nvPr>
            <p:ph type="title"/>
          </p:nvPr>
        </p:nvSpPr>
        <p:spPr/>
        <p:txBody>
          <a:bodyPr/>
          <a:lstStyle/>
          <a:p>
            <a:pPr algn="l"/>
            <a:r>
              <a:rPr lang="en-CA" dirty="0"/>
              <a:t>Principle 6 - Accuracy</a:t>
            </a:r>
          </a:p>
        </p:txBody>
      </p:sp>
      <p:sp>
        <p:nvSpPr>
          <p:cNvPr id="8" name="Content Placeholder 7">
            <a:extLst>
              <a:ext uri="{FF2B5EF4-FFF2-40B4-BE49-F238E27FC236}">
                <a16:creationId xmlns:a16="http://schemas.microsoft.com/office/drawing/2014/main" id="{438BD5C1-BC42-FBB7-1813-4E34B4C71F25}"/>
              </a:ext>
            </a:extLst>
          </p:cNvPr>
          <p:cNvSpPr>
            <a:spLocks noGrp="1"/>
          </p:cNvSpPr>
          <p:nvPr>
            <p:ph idx="1"/>
          </p:nvPr>
        </p:nvSpPr>
        <p:spPr/>
        <p:txBody>
          <a:bodyPr/>
          <a:lstStyle/>
          <a:p>
            <a:pPr marL="0" indent="0">
              <a:buNone/>
            </a:pPr>
            <a:r>
              <a:rPr lang="en-US" dirty="0"/>
              <a:t>Personal information must be as accurate, complete, and up-to-date as possible in order to properly satisfy the purposes for which it is to be used.</a:t>
            </a:r>
            <a:endParaRPr lang="en-CA" dirty="0"/>
          </a:p>
        </p:txBody>
      </p:sp>
    </p:spTree>
    <p:extLst>
      <p:ext uri="{BB962C8B-B14F-4D97-AF65-F5344CB8AC3E}">
        <p14:creationId xmlns:p14="http://schemas.microsoft.com/office/powerpoint/2010/main" val="711730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D4E0E-ED2F-C2F6-20DA-D10C33CE908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5FFE30F-492C-D9CD-7081-A95153CB7C65}"/>
              </a:ext>
            </a:extLst>
          </p:cNvPr>
          <p:cNvSpPr>
            <a:spLocks noGrp="1"/>
          </p:cNvSpPr>
          <p:nvPr>
            <p:ph type="title"/>
          </p:nvPr>
        </p:nvSpPr>
        <p:spPr/>
        <p:txBody>
          <a:bodyPr/>
          <a:lstStyle/>
          <a:p>
            <a:pPr algn="l"/>
            <a:r>
              <a:rPr lang="en-CA" dirty="0"/>
              <a:t>Principle 7 - Safeguards</a:t>
            </a:r>
          </a:p>
        </p:txBody>
      </p:sp>
      <p:sp>
        <p:nvSpPr>
          <p:cNvPr id="8" name="Content Placeholder 7">
            <a:extLst>
              <a:ext uri="{FF2B5EF4-FFF2-40B4-BE49-F238E27FC236}">
                <a16:creationId xmlns:a16="http://schemas.microsoft.com/office/drawing/2014/main" id="{D1606A25-9ACE-2B27-D4E5-1936D98BA2C3}"/>
              </a:ext>
            </a:extLst>
          </p:cNvPr>
          <p:cNvSpPr>
            <a:spLocks noGrp="1"/>
          </p:cNvSpPr>
          <p:nvPr>
            <p:ph idx="1"/>
          </p:nvPr>
        </p:nvSpPr>
        <p:spPr/>
        <p:txBody>
          <a:bodyPr/>
          <a:lstStyle/>
          <a:p>
            <a:pPr marL="0" indent="0">
              <a:buNone/>
            </a:pPr>
            <a:r>
              <a:rPr lang="en-US" dirty="0"/>
              <a:t>Personal information must be protected by appropriate security relative to the sensitivity of the information.</a:t>
            </a:r>
            <a:endParaRPr lang="en-CA" dirty="0"/>
          </a:p>
        </p:txBody>
      </p:sp>
    </p:spTree>
    <p:extLst>
      <p:ext uri="{BB962C8B-B14F-4D97-AF65-F5344CB8AC3E}">
        <p14:creationId xmlns:p14="http://schemas.microsoft.com/office/powerpoint/2010/main" val="1392541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A6C43-6CA2-0138-75D3-45E7276DF73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423AB73-0986-6044-F11C-4FDDA8398898}"/>
              </a:ext>
            </a:extLst>
          </p:cNvPr>
          <p:cNvSpPr>
            <a:spLocks noGrp="1"/>
          </p:cNvSpPr>
          <p:nvPr>
            <p:ph type="title"/>
          </p:nvPr>
        </p:nvSpPr>
        <p:spPr/>
        <p:txBody>
          <a:bodyPr/>
          <a:lstStyle/>
          <a:p>
            <a:pPr algn="l"/>
            <a:r>
              <a:rPr lang="en-CA" dirty="0"/>
              <a:t>Principle 8 - Openness</a:t>
            </a:r>
          </a:p>
        </p:txBody>
      </p:sp>
      <p:sp>
        <p:nvSpPr>
          <p:cNvPr id="8" name="Content Placeholder 7">
            <a:extLst>
              <a:ext uri="{FF2B5EF4-FFF2-40B4-BE49-F238E27FC236}">
                <a16:creationId xmlns:a16="http://schemas.microsoft.com/office/drawing/2014/main" id="{5BAD8D25-BB5B-5398-95D7-4833E7404C3C}"/>
              </a:ext>
            </a:extLst>
          </p:cNvPr>
          <p:cNvSpPr>
            <a:spLocks noGrp="1"/>
          </p:cNvSpPr>
          <p:nvPr>
            <p:ph idx="1"/>
          </p:nvPr>
        </p:nvSpPr>
        <p:spPr/>
        <p:txBody>
          <a:bodyPr/>
          <a:lstStyle/>
          <a:p>
            <a:pPr marL="0" indent="0">
              <a:buNone/>
            </a:pPr>
            <a:r>
              <a:rPr lang="en-US" dirty="0"/>
              <a:t>An organization must make detailed information about its policies and practices relating to the management of personal information publicly and readily available.</a:t>
            </a:r>
            <a:endParaRPr lang="en-CA" dirty="0"/>
          </a:p>
        </p:txBody>
      </p:sp>
    </p:spTree>
    <p:extLst>
      <p:ext uri="{BB962C8B-B14F-4D97-AF65-F5344CB8AC3E}">
        <p14:creationId xmlns:p14="http://schemas.microsoft.com/office/powerpoint/2010/main" val="3268454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611D8-E001-F462-71D2-CD9F8614E9E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7DB786C-33AC-9A4E-9ACC-9B51E494B3E2}"/>
              </a:ext>
            </a:extLst>
          </p:cNvPr>
          <p:cNvSpPr>
            <a:spLocks noGrp="1"/>
          </p:cNvSpPr>
          <p:nvPr>
            <p:ph type="title"/>
          </p:nvPr>
        </p:nvSpPr>
        <p:spPr/>
        <p:txBody>
          <a:bodyPr/>
          <a:lstStyle/>
          <a:p>
            <a:pPr algn="l"/>
            <a:r>
              <a:rPr lang="en-CA" dirty="0"/>
              <a:t>Principle 9 - Individual Access</a:t>
            </a:r>
          </a:p>
        </p:txBody>
      </p:sp>
      <p:sp>
        <p:nvSpPr>
          <p:cNvPr id="8" name="Content Placeholder 7">
            <a:extLst>
              <a:ext uri="{FF2B5EF4-FFF2-40B4-BE49-F238E27FC236}">
                <a16:creationId xmlns:a16="http://schemas.microsoft.com/office/drawing/2014/main" id="{78BC235A-51D2-7688-486C-3DD8FA04951A}"/>
              </a:ext>
            </a:extLst>
          </p:cNvPr>
          <p:cNvSpPr>
            <a:spLocks noGrp="1"/>
          </p:cNvSpPr>
          <p:nvPr>
            <p:ph idx="1"/>
          </p:nvPr>
        </p:nvSpPr>
        <p:spPr/>
        <p:txBody>
          <a:bodyPr/>
          <a:lstStyle/>
          <a:p>
            <a:pPr marL="0" indent="0">
              <a:buNone/>
            </a:pPr>
            <a:r>
              <a:rPr lang="en-US" dirty="0"/>
              <a:t>Upon request, an individual must be informed of the existence, use, and disclosure of their personal information and be given access to that information. An individual shall be able to challenge the accuracy and completeness of the information and have it amended as appropriate.</a:t>
            </a:r>
            <a:endParaRPr lang="en-CA" dirty="0"/>
          </a:p>
        </p:txBody>
      </p:sp>
    </p:spTree>
    <p:extLst>
      <p:ext uri="{BB962C8B-B14F-4D97-AF65-F5344CB8AC3E}">
        <p14:creationId xmlns:p14="http://schemas.microsoft.com/office/powerpoint/2010/main" val="35047348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00390-9067-F5B6-C90D-BF572ADA8A3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74E4623-58FE-C053-E208-6B4299DBA72A}"/>
              </a:ext>
            </a:extLst>
          </p:cNvPr>
          <p:cNvSpPr>
            <a:spLocks noGrp="1"/>
          </p:cNvSpPr>
          <p:nvPr>
            <p:ph type="title"/>
          </p:nvPr>
        </p:nvSpPr>
        <p:spPr/>
        <p:txBody>
          <a:bodyPr/>
          <a:lstStyle/>
          <a:p>
            <a:pPr algn="l"/>
            <a:r>
              <a:rPr lang="en-CA" dirty="0"/>
              <a:t>Principle 10 - Challenging Compliance</a:t>
            </a:r>
          </a:p>
        </p:txBody>
      </p:sp>
      <p:sp>
        <p:nvSpPr>
          <p:cNvPr id="8" name="Content Placeholder 7">
            <a:extLst>
              <a:ext uri="{FF2B5EF4-FFF2-40B4-BE49-F238E27FC236}">
                <a16:creationId xmlns:a16="http://schemas.microsoft.com/office/drawing/2014/main" id="{BF28AA7E-911E-5CC0-B08A-19B3C24BC389}"/>
              </a:ext>
            </a:extLst>
          </p:cNvPr>
          <p:cNvSpPr>
            <a:spLocks noGrp="1"/>
          </p:cNvSpPr>
          <p:nvPr>
            <p:ph idx="1"/>
          </p:nvPr>
        </p:nvSpPr>
        <p:spPr/>
        <p:txBody>
          <a:bodyPr/>
          <a:lstStyle/>
          <a:p>
            <a:pPr marL="0" indent="0">
              <a:buNone/>
            </a:pPr>
            <a:r>
              <a:rPr lang="en-US" dirty="0"/>
              <a:t>An individual shall be able to challenge an organization’s compliance with the above principles. Their challenge should be addressed to the person accountable for the organization’s compliance with PIPEDA, usually their Chief Privacy Officer.</a:t>
            </a:r>
            <a:endParaRPr lang="en-CA" dirty="0"/>
          </a:p>
        </p:txBody>
      </p:sp>
    </p:spTree>
    <p:extLst>
      <p:ext uri="{BB962C8B-B14F-4D97-AF65-F5344CB8AC3E}">
        <p14:creationId xmlns:p14="http://schemas.microsoft.com/office/powerpoint/2010/main" val="2476203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6C3F0-449F-DF6E-4C7C-F76CE7F5E5C2}"/>
              </a:ext>
            </a:extLst>
          </p:cNvPr>
          <p:cNvSpPr>
            <a:spLocks noGrp="1"/>
          </p:cNvSpPr>
          <p:nvPr>
            <p:ph type="title"/>
          </p:nvPr>
        </p:nvSpPr>
        <p:spPr/>
        <p:txBody>
          <a:bodyPr/>
          <a:lstStyle/>
          <a:p>
            <a:r>
              <a:rPr lang="en-CA" dirty="0"/>
              <a:t>Conclusion</a:t>
            </a:r>
          </a:p>
        </p:txBody>
      </p:sp>
      <p:sp>
        <p:nvSpPr>
          <p:cNvPr id="4" name="Rectangle 1">
            <a:extLst>
              <a:ext uri="{FF2B5EF4-FFF2-40B4-BE49-F238E27FC236}">
                <a16:creationId xmlns:a16="http://schemas.microsoft.com/office/drawing/2014/main" id="{EB3AA75F-E9AE-D413-D4BE-718F95E48E53}"/>
              </a:ext>
            </a:extLst>
          </p:cNvPr>
          <p:cNvSpPr>
            <a:spLocks noGrp="1" noChangeArrowheads="1"/>
          </p:cNvSpPr>
          <p:nvPr>
            <p:ph idx="1"/>
          </p:nvPr>
        </p:nvSpPr>
        <p:spPr bwMode="auto">
          <a:xfrm>
            <a:off x="2773599" y="2465982"/>
            <a:ext cx="7756034"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 PIPEDA is Canada’s federal private-sector privacy law</a:t>
            </a:r>
            <a:br>
              <a:rPr kumimoji="0" lang="en-US" altLang="en-US" b="0" i="0" u="none" strike="noStrike" cap="none" normalizeH="0" baseline="0" dirty="0">
                <a:ln>
                  <a:noFill/>
                </a:ln>
                <a:solidFill>
                  <a:schemeClr val="tx1"/>
                </a:solidFill>
                <a:effectLst/>
              </a:rPr>
            </a:br>
            <a:r>
              <a:rPr kumimoji="0" lang="en-US" altLang="en-US"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 Built around 10 interconnected privacy principles </a:t>
            </a:r>
            <a:br>
              <a:rPr kumimoji="0" lang="en-US" altLang="en-US" b="0" i="0" u="none" strike="noStrike" cap="none" normalizeH="0" baseline="0" dirty="0">
                <a:ln>
                  <a:noFill/>
                </a:ln>
                <a:solidFill>
                  <a:schemeClr val="tx1"/>
                </a:solidFill>
                <a:effectLst/>
              </a:rPr>
            </a:b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 Focuses on accountability, consent, transparency, and safeguards</a:t>
            </a:r>
            <a:br>
              <a:rPr kumimoji="0" lang="en-US" altLang="en-US" b="0" i="0" u="none" strike="noStrike" cap="none" normalizeH="0" baseline="0" dirty="0">
                <a:ln>
                  <a:noFill/>
                </a:ln>
                <a:solidFill>
                  <a:schemeClr val="tx1"/>
                </a:solidFill>
                <a:effectLst/>
              </a:rPr>
            </a:br>
            <a:r>
              <a:rPr kumimoji="0" lang="en-US" altLang="en-US"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 Balances business needs with individual privacy rights </a:t>
            </a:r>
            <a:br>
              <a:rPr kumimoji="0" lang="en-US" altLang="en-US" b="0" i="0" u="none" strike="noStrike" cap="none" normalizeH="0" baseline="0" dirty="0">
                <a:ln>
                  <a:noFill/>
                </a:ln>
                <a:solidFill>
                  <a:schemeClr val="tx1"/>
                </a:solidFill>
                <a:effectLst/>
              </a:rPr>
            </a:b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 Privacy law continues to evolve with technology </a:t>
            </a:r>
          </a:p>
        </p:txBody>
      </p:sp>
    </p:spTree>
    <p:extLst>
      <p:ext uri="{BB962C8B-B14F-4D97-AF65-F5344CB8AC3E}">
        <p14:creationId xmlns:p14="http://schemas.microsoft.com/office/powerpoint/2010/main" val="28334619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TM16401375[[fn=Madison]]</Template>
  <TotalTime>107</TotalTime>
  <Words>3905</Words>
  <Application>Microsoft Office PowerPoint</Application>
  <PresentationFormat>Widescreen</PresentationFormat>
  <Paragraphs>303</Paragraphs>
  <Slides>18</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MS Shell Dlg 2</vt:lpstr>
      <vt:lpstr>Wingdings</vt:lpstr>
      <vt:lpstr>Wingdings 3</vt:lpstr>
      <vt:lpstr>Madison</vt:lpstr>
      <vt:lpstr>Data Governance</vt:lpstr>
      <vt:lpstr>Roadmap</vt:lpstr>
      <vt:lpstr>Introduction to PIPEDA</vt:lpstr>
      <vt:lpstr>Canada’s Privacy Law Landscape</vt:lpstr>
      <vt:lpstr>What is PIPEDA</vt:lpstr>
      <vt:lpstr>Key Concepts Under PIPEDA</vt:lpstr>
      <vt:lpstr>10 Principles of PIPEDA</vt:lpstr>
      <vt:lpstr>Principle 1 - Accountability</vt:lpstr>
      <vt:lpstr>Principle 2 - Identifying Purposes</vt:lpstr>
      <vt:lpstr>Principle 3 - Consent</vt:lpstr>
      <vt:lpstr>Principle 4 - Limiting Collection</vt:lpstr>
      <vt:lpstr>Principle 5 - Limiting Use, disclosure and retention</vt:lpstr>
      <vt:lpstr>Principle 6 - Accuracy</vt:lpstr>
      <vt:lpstr>Principle 7 - Safeguards</vt:lpstr>
      <vt:lpstr>Principle 8 - Openness</vt:lpstr>
      <vt:lpstr>Principle 9 - Individual Access</vt:lpstr>
      <vt:lpstr>Principle 10 - Challenging Compliance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Afeena Gafoor</dc:creator>
  <cp:lastModifiedBy>Afeena Gafoor</cp:lastModifiedBy>
  <cp:revision>27</cp:revision>
  <dcterms:created xsi:type="dcterms:W3CDTF">2026-05-28T12:54:25Z</dcterms:created>
  <dcterms:modified xsi:type="dcterms:W3CDTF">2026-05-28T15:14:55Z</dcterms:modified>
</cp:coreProperties>
</file>